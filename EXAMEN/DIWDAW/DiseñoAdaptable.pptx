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sldIdLst>
    <p:sldId id="256" r:id="rId2"/>
    <p:sldId id="257" r:id="rId3"/>
    <p:sldId id="258" r:id="rId4"/>
    <p:sldId id="261" r:id="rId5"/>
    <p:sldId id="262" r:id="rId6"/>
    <p:sldId id="275" r:id="rId7"/>
    <p:sldId id="263" r:id="rId8"/>
    <p:sldId id="265" r:id="rId9"/>
    <p:sldId id="266" r:id="rId10"/>
    <p:sldId id="267" r:id="rId11"/>
    <p:sldId id="268" r:id="rId12"/>
    <p:sldId id="269" r:id="rId13"/>
    <p:sldId id="270" r:id="rId14"/>
    <p:sldId id="271" r:id="rId15"/>
    <p:sldId id="272" r:id="rId16"/>
    <p:sldId id="273" r:id="rId17"/>
    <p:sldId id="281" r:id="rId18"/>
    <p:sldId id="282" r:id="rId19"/>
    <p:sldId id="283" r:id="rId20"/>
    <p:sldId id="274" r:id="rId21"/>
    <p:sldId id="276" r:id="rId22"/>
    <p:sldId id="277" r:id="rId23"/>
    <p:sldId id="278" r:id="rId24"/>
    <p:sldId id="279" r:id="rId25"/>
  </p:sldIdLst>
  <p:sldSz cx="9144000" cy="6858000" type="screen4x3"/>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5053" autoAdjust="0"/>
  </p:normalViewPr>
  <p:slideViewPr>
    <p:cSldViewPr>
      <p:cViewPr>
        <p:scale>
          <a:sx n="90" d="100"/>
          <a:sy n="90" d="100"/>
        </p:scale>
        <p:origin x="-816" y="35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Marcador de encabezado"/>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s-ES"/>
          </a:p>
        </p:txBody>
      </p:sp>
      <p:sp>
        <p:nvSpPr>
          <p:cNvPr id="3" name="2 Marcador de fecha"/>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8F871C6-396A-4CB6-8117-0FBC92E511D8}" type="datetimeFigureOut">
              <a:rPr lang="es-ES" smtClean="0"/>
              <a:t>09/10/2018</a:t>
            </a:fld>
            <a:endParaRPr lang="es-ES"/>
          </a:p>
        </p:txBody>
      </p:sp>
      <p:sp>
        <p:nvSpPr>
          <p:cNvPr id="4" name="3 Marcador de imagen de diapositiva"/>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s-ES"/>
          </a:p>
        </p:txBody>
      </p:sp>
      <p:sp>
        <p:nvSpPr>
          <p:cNvPr id="5" name="4 Marcador de notas"/>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s-ES" smtClean="0"/>
              <a:t>Haga clic para modificar el estilo de texto del patrón</a:t>
            </a:r>
          </a:p>
          <a:p>
            <a:pPr lvl="1"/>
            <a:r>
              <a:rPr lang="es-ES" smtClean="0"/>
              <a:t>Segundo nivel</a:t>
            </a:r>
          </a:p>
          <a:p>
            <a:pPr lvl="2"/>
            <a:r>
              <a:rPr lang="es-ES" smtClean="0"/>
              <a:t>Tercer nivel</a:t>
            </a:r>
          </a:p>
          <a:p>
            <a:pPr lvl="3"/>
            <a:r>
              <a:rPr lang="es-ES" smtClean="0"/>
              <a:t>Cuarto nivel</a:t>
            </a:r>
          </a:p>
          <a:p>
            <a:pPr lvl="4"/>
            <a:r>
              <a:rPr lang="es-ES" smtClean="0"/>
              <a:t>Quinto nivel</a:t>
            </a:r>
            <a:endParaRPr lang="es-ES"/>
          </a:p>
        </p:txBody>
      </p:sp>
      <p:sp>
        <p:nvSpPr>
          <p:cNvPr id="6" name="5 Marcador de pie de página"/>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s-ES"/>
          </a:p>
        </p:txBody>
      </p:sp>
      <p:sp>
        <p:nvSpPr>
          <p:cNvPr id="7" name="6 Marcador de número de diapositiva"/>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AE3E078-2B54-471D-A1D9-C0601466603B}" type="slidenum">
              <a:rPr lang="es-ES" smtClean="0"/>
              <a:t>‹Nº›</a:t>
            </a:fld>
            <a:endParaRPr lang="es-ES"/>
          </a:p>
        </p:txBody>
      </p:sp>
    </p:spTree>
    <p:extLst>
      <p:ext uri="{BB962C8B-B14F-4D97-AF65-F5344CB8AC3E}">
        <p14:creationId xmlns:p14="http://schemas.microsoft.com/office/powerpoint/2010/main" val="39285881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err="1" smtClean="0"/>
              <a:t>Responsive</a:t>
            </a:r>
            <a:r>
              <a:rPr lang="es-ES" baseline="0" dirty="0" smtClean="0"/>
              <a:t> web </a:t>
            </a:r>
            <a:r>
              <a:rPr lang="es-ES" baseline="0" dirty="0" err="1" smtClean="0"/>
              <a:t>design</a:t>
            </a:r>
            <a:r>
              <a:rPr lang="es-ES" baseline="0" dirty="0" smtClean="0"/>
              <a:t> es una técnica para el diseño de las paginas web. Logramos que en los diferentes dispositivos, se pueda visualizar correctamente.</a:t>
            </a:r>
          </a:p>
          <a:p>
            <a:r>
              <a:rPr lang="es-ES" baseline="0" dirty="0" smtClean="0"/>
              <a:t>Para ver una </a:t>
            </a:r>
            <a:r>
              <a:rPr lang="es-ES" baseline="0" dirty="0" err="1" smtClean="0"/>
              <a:t>informacion</a:t>
            </a:r>
            <a:r>
              <a:rPr lang="es-ES" baseline="0" dirty="0" smtClean="0"/>
              <a:t> en el </a:t>
            </a:r>
            <a:r>
              <a:rPr lang="es-ES" baseline="0" dirty="0" err="1" smtClean="0"/>
              <a:t>movil</a:t>
            </a:r>
            <a:r>
              <a:rPr lang="es-ES" baseline="0" dirty="0" smtClean="0"/>
              <a:t>, es normal que se deslice el dedo de arriba abajo pero no sería correcto que </a:t>
            </a:r>
            <a:r>
              <a:rPr lang="es-ES" baseline="0" dirty="0" err="1" smtClean="0"/>
              <a:t>tuviesemos</a:t>
            </a:r>
            <a:r>
              <a:rPr lang="es-ES" baseline="0" dirty="0" smtClean="0"/>
              <a:t> que mover la pantalla de derechas a izquierdas. </a:t>
            </a:r>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3</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es-ES" dirty="0" smtClean="0"/>
              <a:t>Aunque no exista</a:t>
            </a:r>
            <a:r>
              <a:rPr lang="es-ES" baseline="0" dirty="0" smtClean="0"/>
              <a:t> ninguna norma en concreto, es conveniente que se sigan algunas normas</a:t>
            </a:r>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4</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5</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dirty="0" smtClean="0"/>
              <a:t>1.Cuando</a:t>
            </a:r>
            <a:r>
              <a:rPr lang="es-ES" baseline="0" dirty="0" smtClean="0"/>
              <a:t> diseñemos un pagina web</a:t>
            </a:r>
            <a:r>
              <a:rPr lang="sq-AL" sz="1200" kern="1200" dirty="0" smtClean="0">
                <a:solidFill>
                  <a:schemeClr val="tx1"/>
                </a:solidFill>
                <a:effectLst/>
                <a:latin typeface="+mn-lt"/>
                <a:ea typeface="+mn-ea"/>
                <a:cs typeface="+mn-cs"/>
              </a:rPr>
              <a:t>, </a:t>
            </a:r>
            <a:r>
              <a:rPr lang="es-ES" sz="1200" kern="1200" dirty="0" smtClean="0">
                <a:solidFill>
                  <a:schemeClr val="tx1"/>
                </a:solidFill>
                <a:effectLst/>
                <a:latin typeface="+mn-lt"/>
                <a:ea typeface="+mn-ea"/>
                <a:cs typeface="+mn-cs"/>
              </a:rPr>
              <a:t>se</a:t>
            </a:r>
            <a:r>
              <a:rPr lang="es-ES" sz="1200" kern="1200" baseline="0" dirty="0" smtClean="0">
                <a:solidFill>
                  <a:schemeClr val="tx1"/>
                </a:solidFill>
                <a:effectLst/>
                <a:latin typeface="+mn-lt"/>
                <a:ea typeface="+mn-ea"/>
                <a:cs typeface="+mn-cs"/>
              </a:rPr>
              <a:t> tiene que tener en cuenta la los diferentes navegadores</a:t>
            </a:r>
            <a:r>
              <a:rPr lang="sq-AL" sz="1200" kern="1200" dirty="0" smtClean="0">
                <a:solidFill>
                  <a:schemeClr val="tx1"/>
                </a:solidFill>
                <a:effectLst/>
                <a:latin typeface="+mn-lt"/>
                <a:ea typeface="+mn-ea"/>
                <a:cs typeface="+mn-cs"/>
              </a:rPr>
              <a:t>, </a:t>
            </a:r>
            <a:r>
              <a:rPr lang="es-ES" sz="1200" kern="1200" dirty="0" smtClean="0">
                <a:solidFill>
                  <a:schemeClr val="tx1"/>
                </a:solidFill>
                <a:effectLst/>
                <a:latin typeface="+mn-lt"/>
                <a:ea typeface="+mn-ea"/>
                <a:cs typeface="+mn-cs"/>
              </a:rPr>
              <a:t>por lo menos,</a:t>
            </a:r>
            <a:r>
              <a:rPr lang="es-ES" sz="1200" kern="1200" baseline="0" dirty="0" smtClean="0">
                <a:solidFill>
                  <a:schemeClr val="tx1"/>
                </a:solidFill>
                <a:effectLst/>
                <a:latin typeface="+mn-lt"/>
                <a:ea typeface="+mn-ea"/>
                <a:cs typeface="+mn-cs"/>
              </a:rPr>
              <a:t> los mas utilizados.</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baseline="0" dirty="0" smtClean="0">
                <a:solidFill>
                  <a:schemeClr val="tx1"/>
                </a:solidFill>
                <a:effectLst/>
                <a:latin typeface="+mn-lt"/>
                <a:ea typeface="+mn-ea"/>
                <a:cs typeface="+mn-cs"/>
              </a:rPr>
              <a:t>2.Actualmente existen infinidad de medidas y resoluciones de pantallas. Es imposible realizar diseños para cada pantalla </a:t>
            </a:r>
          </a:p>
          <a:p>
            <a:pPr marL="0" marR="0" indent="0" algn="l" defTabSz="914400" rtl="0" eaLnBrk="1" fontAlgn="auto" latinLnBrk="0" hangingPunct="1">
              <a:lnSpc>
                <a:spcPct val="100000"/>
              </a:lnSpc>
              <a:spcBef>
                <a:spcPts val="0"/>
              </a:spcBef>
              <a:spcAft>
                <a:spcPts val="0"/>
              </a:spcAft>
              <a:buClrTx/>
              <a:buSzTx/>
              <a:buFontTx/>
              <a:buNone/>
              <a:tabLst/>
              <a:defRPr/>
            </a:pPr>
            <a:r>
              <a:rPr lang="es-ES" sz="1200" kern="1200" baseline="0" dirty="0" smtClean="0">
                <a:solidFill>
                  <a:schemeClr val="tx1"/>
                </a:solidFill>
                <a:effectLst/>
                <a:latin typeface="+mn-lt"/>
                <a:ea typeface="+mn-ea"/>
                <a:cs typeface="+mn-cs"/>
              </a:rPr>
              <a:t>3.Cada vez se navega mas por los móviles y </a:t>
            </a:r>
            <a:r>
              <a:rPr lang="es-ES" sz="1200" kern="1200" baseline="0" dirty="0" err="1" smtClean="0">
                <a:solidFill>
                  <a:schemeClr val="tx1"/>
                </a:solidFill>
                <a:effectLst/>
                <a:latin typeface="+mn-lt"/>
                <a:ea typeface="+mn-ea"/>
                <a:cs typeface="+mn-cs"/>
              </a:rPr>
              <a:t>tablets</a:t>
            </a:r>
            <a:r>
              <a:rPr lang="es-ES" sz="1200" kern="1200" baseline="0" dirty="0" smtClean="0">
                <a:solidFill>
                  <a:schemeClr val="tx1"/>
                </a:solidFill>
                <a:effectLst/>
                <a:latin typeface="+mn-lt"/>
                <a:ea typeface="+mn-ea"/>
                <a:cs typeface="+mn-cs"/>
              </a:rPr>
              <a:t>. En estos dispositivos se suele tener tarifas de datos. Por este motivo en conveniente que la web este diseñada para que el consumo de datos sea lo </a:t>
            </a:r>
            <a:r>
              <a:rPr lang="es-ES" sz="1200" kern="1200" baseline="0" dirty="0" err="1" smtClean="0">
                <a:solidFill>
                  <a:schemeClr val="tx1"/>
                </a:solidFill>
                <a:effectLst/>
                <a:latin typeface="+mn-lt"/>
                <a:ea typeface="+mn-ea"/>
                <a:cs typeface="+mn-cs"/>
              </a:rPr>
              <a:t>minimo</a:t>
            </a:r>
            <a:r>
              <a:rPr lang="es-ES" sz="1200" kern="1200" baseline="0" dirty="0" smtClean="0">
                <a:solidFill>
                  <a:schemeClr val="tx1"/>
                </a:solidFill>
                <a:effectLst/>
                <a:latin typeface="+mn-lt"/>
                <a:ea typeface="+mn-ea"/>
                <a:cs typeface="+mn-cs"/>
              </a:rPr>
              <a:t> posible.</a:t>
            </a:r>
            <a:endParaRPr lang="es-ES" sz="1200" kern="1200" dirty="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7</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8</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9</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10</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11</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12</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13</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14</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15</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16</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17</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18</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19</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sq-AL" sz="1200" kern="1200" dirty="0" smtClean="0">
                <a:solidFill>
                  <a:schemeClr val="tx1"/>
                </a:solidFill>
                <a:effectLst/>
                <a:latin typeface="+mn-lt"/>
                <a:ea typeface="+mn-ea"/>
                <a:cs typeface="+mn-cs"/>
              </a:rPr>
              <a:t>Web-orriak maketatzea erraza dirudien arren, ez da beti hala izaten. Maketatzeak ez du esan nahi gure web-orriak irudi, bideo eta soinu ugarirekin bete behar ditugunik; maketatzeak esan nahi du gailu mota guztietarako sortu behar ditugula gure web-orriak, eta, ondorioz, beharrezkoa ez den informazioa ezabatu egin behar dugula tamaina jakin batean edo beste batean bistaratu nahi dugunean. </a:t>
            </a:r>
            <a:endParaRPr lang="es-ES" sz="1200" kern="1200" dirty="0" smtClean="0">
              <a:solidFill>
                <a:schemeClr val="tx1"/>
              </a:solidFill>
              <a:effectLst/>
              <a:latin typeface="+mn-lt"/>
              <a:ea typeface="+mn-ea"/>
              <a:cs typeface="+mn-cs"/>
            </a:endParaRPr>
          </a:p>
          <a:p>
            <a:r>
              <a:rPr lang="sq-AL" sz="1200" kern="1200" dirty="0" smtClean="0">
                <a:solidFill>
                  <a:schemeClr val="tx1"/>
                </a:solidFill>
                <a:effectLst/>
                <a:latin typeface="+mn-lt"/>
                <a:ea typeface="+mn-ea"/>
                <a:cs typeface="+mn-cs"/>
              </a:rPr>
              <a:t>Nabigatzaileetan bistaratuko ditugun dokumentuen zabalera pixeletan definitzeko ohitura dugu, baina, neurri hori erabiltzen dugunean, arazoak izan ditzakegu beste gailu batzuetan bistaratzeko orduan. Batzuetan, dokumentu hori ordenagailuetan osorik ikusi arren, atzamarrak erabili beharko ditugu mugikor adimentsuetan dokumentu osoan nabigatzeko, dokumentua gailuaren zabalera baino zabalagoa delako. Horregatik, neurri erlatiboak (–em– eta –%–) erabiltzea aholkatzen da. </a:t>
            </a:r>
            <a:endParaRPr lang="es-ES" sz="1200" kern="1200" dirty="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20</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sq-AL" sz="1200" kern="1200" dirty="0" smtClean="0">
                <a:solidFill>
                  <a:schemeClr val="tx1"/>
                </a:solidFill>
                <a:effectLst/>
                <a:latin typeface="+mn-lt"/>
                <a:ea typeface="+mn-ea"/>
                <a:cs typeface="+mn-cs"/>
              </a:rPr>
              <a:t>Web-orriak maketatzea erraza dirudien arren, ez da beti hala izaten. Maketatzeak ez du esan nahi gure web-orriak irudi, bideo eta soinu ugarirekin bete behar ditugunik; maketatzeak esan nahi du gailu mota guztietarako sortu behar ditugula gure web-orriak, eta, ondorioz, beharrezkoa ez den informazioa ezabatu egin behar dugula tamaina jakin batean edo beste batean bistaratu nahi dugunean. </a:t>
            </a:r>
            <a:endParaRPr lang="es-ES" sz="1200" kern="1200" dirty="0" smtClean="0">
              <a:solidFill>
                <a:schemeClr val="tx1"/>
              </a:solidFill>
              <a:effectLst/>
              <a:latin typeface="+mn-lt"/>
              <a:ea typeface="+mn-ea"/>
              <a:cs typeface="+mn-cs"/>
            </a:endParaRPr>
          </a:p>
          <a:p>
            <a:r>
              <a:rPr lang="sq-AL" sz="1200" kern="1200" dirty="0" smtClean="0">
                <a:solidFill>
                  <a:schemeClr val="tx1"/>
                </a:solidFill>
                <a:effectLst/>
                <a:latin typeface="+mn-lt"/>
                <a:ea typeface="+mn-ea"/>
                <a:cs typeface="+mn-cs"/>
              </a:rPr>
              <a:t>Nabigatzaileetan bistaratuko ditugun dokumentuen zabalera pixeletan definitzeko ohitura dugu, baina, neurri hori erabiltzen dugunean, arazoak izan ditzakegu beste gailu batzuetan bistaratzeko orduan. Batzuetan, dokumentu hori ordenagailuetan osorik ikusi arren, atzamarrak erabili beharko ditugu mugikor adimentsuetan dokumentu osoan nabigatzeko, dokumentua gailuaren zabalera baino zabalagoa delako. Horregatik, neurri erlatiboak (–em– eta –%–) erabiltzea aholkatzen da. </a:t>
            </a:r>
            <a:endParaRPr lang="es-ES" sz="1200" kern="120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21</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sq-AL" sz="1200" kern="1200" dirty="0" smtClean="0">
                <a:solidFill>
                  <a:schemeClr val="tx1"/>
                </a:solidFill>
                <a:effectLst/>
                <a:latin typeface="+mn-lt"/>
                <a:ea typeface="+mn-ea"/>
                <a:cs typeface="+mn-cs"/>
              </a:rPr>
              <a:t>Web-orriak maketatzea erraza dirudien arren, ez da beti hala izaten. Maketatzeak ez du esan nahi gure web-orriak irudi, bideo eta soinu ugarirekin bete behar ditugunik; maketatzeak esan nahi du gailu mota guztietarako sortu behar ditugula gure web-orriak, eta, ondorioz, beharrezkoa ez den informazioa ezabatu egin behar dugula tamaina jakin batean edo beste batean bistaratu nahi dugunean. </a:t>
            </a:r>
            <a:endParaRPr lang="es-ES" sz="1200" kern="1200" dirty="0" smtClean="0">
              <a:solidFill>
                <a:schemeClr val="tx1"/>
              </a:solidFill>
              <a:effectLst/>
              <a:latin typeface="+mn-lt"/>
              <a:ea typeface="+mn-ea"/>
              <a:cs typeface="+mn-cs"/>
            </a:endParaRPr>
          </a:p>
          <a:p>
            <a:r>
              <a:rPr lang="sq-AL" sz="1200" kern="1200" dirty="0" smtClean="0">
                <a:solidFill>
                  <a:schemeClr val="tx1"/>
                </a:solidFill>
                <a:effectLst/>
                <a:latin typeface="+mn-lt"/>
                <a:ea typeface="+mn-ea"/>
                <a:cs typeface="+mn-cs"/>
              </a:rPr>
              <a:t>Nabigatzaileetan bistaratuko ditugun dokumentuen zabalera pixeletan definitzeko ohitura dugu, baina, neurri hori erabiltzen dugunean, arazoak izan ditzakegu beste gailu batzuetan bistaratzeko orduan. Batzuetan, dokumentu hori ordenagailuetan osorik ikusi arren, atzamarrak erabili beharko ditugu mugikor adimentsuetan dokumentu osoan nabigatzeko, dokumentua gailuaren zabalera baino zabalagoa delako. Horregatik, neurri erlatiboak (–em– eta –%–) erabiltzea aholkatzen da. </a:t>
            </a:r>
            <a:endParaRPr lang="es-ES" sz="1200" kern="120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22</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sq-AL" sz="1200" kern="1200" dirty="0" smtClean="0">
                <a:solidFill>
                  <a:schemeClr val="tx1"/>
                </a:solidFill>
                <a:effectLst/>
                <a:latin typeface="+mn-lt"/>
                <a:ea typeface="+mn-ea"/>
                <a:cs typeface="+mn-cs"/>
              </a:rPr>
              <a:t>Web-orriak maketatzea erraza dirudien arren, ez da beti hala izaten. Maketatzeak ez du esan nahi gure web-orriak irudi, bideo eta soinu ugarirekin bete behar ditugunik; maketatzeak esan nahi du gailu mota guztietarako sortu behar ditugula gure web-orriak, eta, ondorioz, beharrezkoa ez den informazioa ezabatu egin behar dugula tamaina jakin batean edo beste batean bistaratu nahi dugunean. </a:t>
            </a:r>
            <a:endParaRPr lang="es-ES" sz="1200" kern="1200" dirty="0" smtClean="0">
              <a:solidFill>
                <a:schemeClr val="tx1"/>
              </a:solidFill>
              <a:effectLst/>
              <a:latin typeface="+mn-lt"/>
              <a:ea typeface="+mn-ea"/>
              <a:cs typeface="+mn-cs"/>
            </a:endParaRPr>
          </a:p>
          <a:p>
            <a:r>
              <a:rPr lang="sq-AL" sz="1200" kern="1200" dirty="0" smtClean="0">
                <a:solidFill>
                  <a:schemeClr val="tx1"/>
                </a:solidFill>
                <a:effectLst/>
                <a:latin typeface="+mn-lt"/>
                <a:ea typeface="+mn-ea"/>
                <a:cs typeface="+mn-cs"/>
              </a:rPr>
              <a:t>Nabigatzaileetan bistaratuko ditugun dokumentuen zabalera pixeletan definitzeko ohitura dugu, baina, neurri hori erabiltzen dugunean, arazoak izan ditzakegu beste gailu batzuetan bistaratzeko orduan. Batzuetan, dokumentu hori ordenagailuetan osorik ikusi arren, atzamarrak erabili beharko ditugu mugikor adimentsuetan dokumentu osoan nabigatzeko, dokumentua gailuaren zabalera baino zabalagoa delako. Horregatik, neurri erlatiboak (–em– eta –%–) erabiltzea aholkatzen da. </a:t>
            </a:r>
            <a:endParaRPr lang="es-ES" sz="1200" kern="120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23</a:t>
            </a:fld>
            <a:endParaRPr lang="es-ES"/>
          </a:p>
        </p:txBody>
      </p:sp>
    </p:spTree>
    <p:extLst>
      <p:ext uri="{BB962C8B-B14F-4D97-AF65-F5344CB8AC3E}">
        <p14:creationId xmlns:p14="http://schemas.microsoft.com/office/powerpoint/2010/main" val="41546359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Marcador de imagen de diapositiva"/>
          <p:cNvSpPr>
            <a:spLocks noGrp="1" noRot="1" noChangeAspect="1"/>
          </p:cNvSpPr>
          <p:nvPr>
            <p:ph type="sldImg"/>
          </p:nvPr>
        </p:nvSpPr>
        <p:spPr/>
      </p:sp>
      <p:sp>
        <p:nvSpPr>
          <p:cNvPr id="3" name="2 Marcador de notas"/>
          <p:cNvSpPr>
            <a:spLocks noGrp="1"/>
          </p:cNvSpPr>
          <p:nvPr>
            <p:ph type="body" idx="1"/>
          </p:nvPr>
        </p:nvSpPr>
        <p:spPr/>
        <p:txBody>
          <a:bodyPr/>
          <a:lstStyle/>
          <a:p>
            <a:r>
              <a:rPr lang="sq-AL" sz="1200" kern="1200" dirty="0" smtClean="0">
                <a:solidFill>
                  <a:schemeClr val="tx1"/>
                </a:solidFill>
                <a:effectLst/>
                <a:latin typeface="+mn-lt"/>
                <a:ea typeface="+mn-ea"/>
                <a:cs typeface="+mn-cs"/>
              </a:rPr>
              <a:t>Web-orriak maketatzea erraza dirudien arren, ez da beti hala izaten. Maketatzeak ez du esan nahi gure web-orriak irudi, bideo eta soinu ugarirekin bete behar ditugunik; maketatzeak esan nahi du gailu mota guztietarako sortu behar ditugula gure web-orriak, eta, ondorioz, beharrezkoa ez den informazioa ezabatu egin behar dugula tamaina jakin batean edo beste batean bistaratu nahi dugunean. </a:t>
            </a:r>
            <a:endParaRPr lang="es-ES" sz="1200" kern="1200" dirty="0" smtClean="0">
              <a:solidFill>
                <a:schemeClr val="tx1"/>
              </a:solidFill>
              <a:effectLst/>
              <a:latin typeface="+mn-lt"/>
              <a:ea typeface="+mn-ea"/>
              <a:cs typeface="+mn-cs"/>
            </a:endParaRPr>
          </a:p>
          <a:p>
            <a:r>
              <a:rPr lang="sq-AL" sz="1200" kern="1200" dirty="0" smtClean="0">
                <a:solidFill>
                  <a:schemeClr val="tx1"/>
                </a:solidFill>
                <a:effectLst/>
                <a:latin typeface="+mn-lt"/>
                <a:ea typeface="+mn-ea"/>
                <a:cs typeface="+mn-cs"/>
              </a:rPr>
              <a:t>Nabigatzaileetan bistaratuko ditugun dokumentuen zabalera pixeletan definitzeko ohitura dugu, baina, neurri hori erabiltzen dugunean, arazoak izan ditzakegu beste gailu batzuetan bistaratzeko orduan. Batzuetan, dokumentu hori ordenagailuetan osorik ikusi arren, atzamarrak erabili beharko ditugu mugikor adimentsuetan dokumentu osoan nabigatzeko, dokumentua gailuaren zabalera baino zabalagoa delako. Horregatik, neurri erlatiboak (–em– eta –%–) erabiltzea aholkatzen da. </a:t>
            </a:r>
            <a:endParaRPr lang="es-ES" sz="1200" kern="1200" smtClean="0">
              <a:solidFill>
                <a:schemeClr val="tx1"/>
              </a:solidFill>
              <a:effectLst/>
              <a:latin typeface="+mn-lt"/>
              <a:ea typeface="+mn-ea"/>
              <a:cs typeface="+mn-cs"/>
            </a:endParaRPr>
          </a:p>
          <a:p>
            <a:endParaRPr lang="es-ES" dirty="0"/>
          </a:p>
        </p:txBody>
      </p:sp>
      <p:sp>
        <p:nvSpPr>
          <p:cNvPr id="4" name="3 Marcador de número de diapositiva"/>
          <p:cNvSpPr>
            <a:spLocks noGrp="1"/>
          </p:cNvSpPr>
          <p:nvPr>
            <p:ph type="sldNum" sz="quarter" idx="10"/>
          </p:nvPr>
        </p:nvSpPr>
        <p:spPr/>
        <p:txBody>
          <a:bodyPr/>
          <a:lstStyle/>
          <a:p>
            <a:fld id="{AAE3E078-2B54-471D-A1D9-C0601466603B}" type="slidenum">
              <a:rPr lang="es-ES" smtClean="0"/>
              <a:t>24</a:t>
            </a:fld>
            <a:endParaRPr lang="es-ES"/>
          </a:p>
        </p:txBody>
      </p:sp>
    </p:spTree>
    <p:extLst>
      <p:ext uri="{BB962C8B-B14F-4D97-AF65-F5344CB8AC3E}">
        <p14:creationId xmlns:p14="http://schemas.microsoft.com/office/powerpoint/2010/main" val="4154635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0" name="9 Rectángulo redondeado"/>
          <p:cNvSpPr/>
          <p:nvPr/>
        </p:nvSpPr>
        <p:spPr>
          <a:xfrm>
            <a:off x="418596" y="434162"/>
            <a:ext cx="8306809" cy="3108960"/>
          </a:xfrm>
          <a:prstGeom prst="roundRect">
            <a:avLst>
              <a:gd name="adj" fmla="val 4578"/>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5" name="4 Título"/>
          <p:cNvSpPr>
            <a:spLocks noGrp="1"/>
          </p:cNvSpPr>
          <p:nvPr>
            <p:ph type="ctrTitle"/>
          </p:nvPr>
        </p:nvSpPr>
        <p:spPr>
          <a:xfrm>
            <a:off x="722376" y="1820206"/>
            <a:ext cx="7772400" cy="1828800"/>
          </a:xfrm>
        </p:spPr>
        <p:txBody>
          <a:bodyPr lIns="45720" rIns="45720" bIns="45720"/>
          <a:lstStyle>
            <a:lvl1pPr algn="r">
              <a:defRPr sz="4500" b="1">
                <a:solidFill>
                  <a:schemeClr val="accent1">
                    <a:tint val="88000"/>
                    <a:satMod val="150000"/>
                  </a:schemeClr>
                </a:solidFill>
                <a:effectLst>
                  <a:outerShdw blurRad="53975" dist="22860" dir="5400000" algn="tl" rotWithShape="0">
                    <a:srgbClr val="000000">
                      <a:alpha val="55000"/>
                    </a:srgbClr>
                  </a:outerShdw>
                </a:effectLst>
              </a:defRPr>
            </a:lvl1pPr>
            <a:extLst/>
          </a:lstStyle>
          <a:p>
            <a:r>
              <a:rPr kumimoji="0" lang="es-ES" smtClean="0"/>
              <a:t>Haga clic para modificar el estilo de título del patrón</a:t>
            </a:r>
            <a:endParaRPr kumimoji="0" lang="en-US"/>
          </a:p>
        </p:txBody>
      </p:sp>
      <p:sp>
        <p:nvSpPr>
          <p:cNvPr id="20" name="19 Subtítulo"/>
          <p:cNvSpPr>
            <a:spLocks noGrp="1"/>
          </p:cNvSpPr>
          <p:nvPr>
            <p:ph type="subTitle" idx="1"/>
          </p:nvPr>
        </p:nvSpPr>
        <p:spPr>
          <a:xfrm>
            <a:off x="722376" y="3685032"/>
            <a:ext cx="7772400" cy="914400"/>
          </a:xfrm>
        </p:spPr>
        <p:txBody>
          <a:bodyPr lIns="182880" tIns="0"/>
          <a:lstStyle>
            <a:lvl1pPr marL="36576" indent="0" algn="r">
              <a:spcBef>
                <a:spcPts val="0"/>
              </a:spcBef>
              <a:buNone/>
              <a:defRPr sz="2000">
                <a:solidFill>
                  <a:schemeClr val="bg2">
                    <a:shade val="25000"/>
                  </a:schemeClr>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extLst/>
          </a:lstStyle>
          <a:p>
            <a:r>
              <a:rPr kumimoji="0" lang="es-ES" smtClean="0"/>
              <a:t>Haga clic para modificar el estilo de subtítulo del patrón</a:t>
            </a:r>
            <a:endParaRPr kumimoji="0" lang="en-US"/>
          </a:p>
        </p:txBody>
      </p:sp>
      <p:sp>
        <p:nvSpPr>
          <p:cNvPr id="19" name="18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8" name="7 Marcador de pie de página"/>
          <p:cNvSpPr>
            <a:spLocks noGrp="1"/>
          </p:cNvSpPr>
          <p:nvPr>
            <p:ph type="ftr" sz="quarter" idx="11"/>
          </p:nvPr>
        </p:nvSpPr>
        <p:spPr/>
        <p:txBody>
          <a:bodyPr/>
          <a:lstStyle>
            <a:extLst/>
          </a:lstStyle>
          <a:p>
            <a:endParaRPr lang="es-ES"/>
          </a:p>
        </p:txBody>
      </p:sp>
      <p:sp>
        <p:nvSpPr>
          <p:cNvPr id="11" name="10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idx="1"/>
          </p:nvPr>
        </p:nvSpPr>
        <p:spPr>
          <a:xfrm>
            <a:off x="502920" y="530352"/>
            <a:ext cx="8183880" cy="4187952"/>
          </a:xfrm>
        </p:spPr>
        <p:txBody>
          <a:bodyPr/>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Encabezado de sección">
    <p:spTree>
      <p:nvGrpSpPr>
        <p:cNvPr id="1" name=""/>
        <p:cNvGrpSpPr/>
        <p:nvPr/>
      </p:nvGrpSpPr>
      <p:grpSpPr>
        <a:xfrm>
          <a:off x="0" y="0"/>
          <a:ext cx="0" cy="0"/>
          <a:chOff x="0" y="0"/>
          <a:chExt cx="0" cy="0"/>
        </a:xfrm>
      </p:grpSpPr>
      <p:sp>
        <p:nvSpPr>
          <p:cNvPr id="14" name="13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10 Rectángulo redondeado"/>
          <p:cNvSpPr/>
          <p:nvPr/>
        </p:nvSpPr>
        <p:spPr>
          <a:xfrm>
            <a:off x="418596" y="434162"/>
            <a:ext cx="8306809" cy="4341329"/>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1 Título"/>
          <p:cNvSpPr>
            <a:spLocks noGrp="1"/>
          </p:cNvSpPr>
          <p:nvPr>
            <p:ph type="title"/>
          </p:nvPr>
        </p:nvSpPr>
        <p:spPr>
          <a:xfrm>
            <a:off x="468344" y="4928616"/>
            <a:ext cx="8183880" cy="676656"/>
          </a:xfrm>
        </p:spPr>
        <p:txBody>
          <a:bodyPr lIns="91440" bIns="0" anchor="b"/>
          <a:lstStyle>
            <a:lvl1pPr algn="l">
              <a:buNone/>
              <a:defRPr sz="3600" b="0" cap="none" baseline="0">
                <a:solidFill>
                  <a:schemeClr val="bg2">
                    <a:shade val="25000"/>
                  </a:schemeClr>
                </a:solidFill>
                <a:effectLst/>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468344" y="5624484"/>
            <a:ext cx="8183880" cy="420624"/>
          </a:xfrm>
        </p:spPr>
        <p:txBody>
          <a:bodyPr lIns="118872" tIns="0" anchor="t"/>
          <a:lstStyle>
            <a:lvl1pPr marL="0" marR="36576" indent="0" algn="l">
              <a:spcBef>
                <a:spcPts val="0"/>
              </a:spcBef>
              <a:spcAft>
                <a:spcPts val="0"/>
              </a:spcAft>
              <a:buNone/>
              <a:defRPr sz="1800" b="0">
                <a:solidFill>
                  <a:schemeClr val="accent1">
                    <a:shade val="50000"/>
                    <a:satMod val="110000"/>
                  </a:schemeClr>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extLst/>
          </a:lstStyle>
          <a:p>
            <a:pPr lvl="0" eaLnBrk="1" latinLnBrk="0" hangingPunct="1"/>
            <a:r>
              <a:rPr kumimoji="0" lang="es-ES" smtClean="0"/>
              <a:t>Haga clic para modificar el estilo de texto del patrón</a:t>
            </a:r>
          </a:p>
        </p:txBody>
      </p:sp>
      <p:sp>
        <p:nvSpPr>
          <p:cNvPr id="4" name="3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contenido"/>
          <p:cNvSpPr>
            <a:spLocks noGrp="1"/>
          </p:cNvSpPr>
          <p:nvPr>
            <p:ph sz="half" idx="1"/>
          </p:nvPr>
        </p:nvSpPr>
        <p:spPr>
          <a:xfrm>
            <a:off x="514352"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2"/>
          </p:nvPr>
        </p:nvSpPr>
        <p:spPr>
          <a:xfrm>
            <a:off x="4755360" y="530352"/>
            <a:ext cx="3931920" cy="4389120"/>
          </a:xfrm>
        </p:spPr>
        <p:txBody>
          <a:bodyPr/>
          <a:lstStyle>
            <a:lvl1pPr>
              <a:defRPr sz="2600"/>
            </a:lvl1pPr>
            <a:lvl2pPr>
              <a:defRPr sz="2200"/>
            </a:lvl2pPr>
            <a:lvl3pPr>
              <a:defRPr sz="2000"/>
            </a:lvl3pPr>
            <a:lvl4pPr>
              <a:defRPr sz="1800"/>
            </a:lvl4pPr>
            <a:lvl5pPr>
              <a:defRPr sz="18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nchor="b"/>
          <a:lstStyle>
            <a:lvl1pPr>
              <a:defRPr b="1"/>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1"/>
          </p:nvPr>
        </p:nvSpPr>
        <p:spPr>
          <a:xfrm>
            <a:off x="607224" y="579438"/>
            <a:ext cx="3931920" cy="792162"/>
          </a:xfrm>
        </p:spPr>
        <p:txBody>
          <a:bodyPr lIns="146304"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4" name="3 Marcador de texto"/>
          <p:cNvSpPr>
            <a:spLocks noGrp="1"/>
          </p:cNvSpPr>
          <p:nvPr>
            <p:ph type="body" sz="half" idx="3"/>
          </p:nvPr>
        </p:nvSpPr>
        <p:spPr>
          <a:xfrm>
            <a:off x="4652169" y="579438"/>
            <a:ext cx="3931920" cy="792162"/>
          </a:xfrm>
        </p:spPr>
        <p:txBody>
          <a:bodyPr lIns="137160" anchor="ctr"/>
          <a:lstStyle>
            <a:lvl1pPr marL="0" indent="0" algn="l">
              <a:buNone/>
              <a:defRPr sz="2400" b="1">
                <a:solidFill>
                  <a:schemeClr val="tx1"/>
                </a:solidFill>
              </a:defRPr>
            </a:lvl1pPr>
            <a:lvl2pPr>
              <a:buNone/>
              <a:defRPr sz="2000" b="1"/>
            </a:lvl2pPr>
            <a:lvl3pPr>
              <a:buNone/>
              <a:defRPr sz="1800" b="1"/>
            </a:lvl3pPr>
            <a:lvl4pPr>
              <a:buNone/>
              <a:defRPr sz="1600" b="1"/>
            </a:lvl4pPr>
            <a:lvl5pPr>
              <a:buNone/>
              <a:defRPr sz="1600" b="1"/>
            </a:lvl5pPr>
            <a:extLst/>
          </a:lstStyle>
          <a:p>
            <a:pPr lvl="0" eaLnBrk="1" latinLnBrk="0" hangingPunct="1"/>
            <a:r>
              <a:rPr kumimoji="0" lang="es-ES" smtClean="0"/>
              <a:t>Haga clic para modificar el estilo de texto del patrón</a:t>
            </a:r>
          </a:p>
        </p:txBody>
      </p:sp>
      <p:sp>
        <p:nvSpPr>
          <p:cNvPr id="5" name="4 Marcador de contenido"/>
          <p:cNvSpPr>
            <a:spLocks noGrp="1"/>
          </p:cNvSpPr>
          <p:nvPr>
            <p:ph sz="quarter" idx="2"/>
          </p:nvPr>
        </p:nvSpPr>
        <p:spPr>
          <a:xfrm>
            <a:off x="607224"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6" name="5 Marcador de contenido"/>
          <p:cNvSpPr>
            <a:spLocks noGrp="1"/>
          </p:cNvSpPr>
          <p:nvPr>
            <p:ph sz="quarter" idx="4"/>
          </p:nvPr>
        </p:nvSpPr>
        <p:spPr>
          <a:xfrm>
            <a:off x="4652169" y="1447800"/>
            <a:ext cx="3931920" cy="3489960"/>
          </a:xfrm>
        </p:spPr>
        <p:txBody>
          <a:bodyPr anchor="t"/>
          <a:lstStyle>
            <a:lvl1pPr algn="l">
              <a:defRPr sz="2400"/>
            </a:lvl1pPr>
            <a:lvl2pPr algn="l">
              <a:defRPr sz="2000"/>
            </a:lvl2pPr>
            <a:lvl3pPr algn="l">
              <a:defRPr sz="1800"/>
            </a:lvl3pPr>
            <a:lvl4pPr algn="l">
              <a:defRPr sz="1600"/>
            </a:lvl4pPr>
            <a:lvl5pPr algn="l">
              <a:defRPr sz="1600"/>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7" name="6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8" name="7 Marcador de pie de página"/>
          <p:cNvSpPr>
            <a:spLocks noGrp="1"/>
          </p:cNvSpPr>
          <p:nvPr>
            <p:ph type="ftr" sz="quarter" idx="11"/>
          </p:nvPr>
        </p:nvSpPr>
        <p:spPr/>
        <p:txBody>
          <a:bodyPr/>
          <a:lstStyle>
            <a:extLst/>
          </a:lstStyle>
          <a:p>
            <a:endParaRPr lang="es-ES"/>
          </a:p>
        </p:txBody>
      </p:sp>
      <p:sp>
        <p:nvSpPr>
          <p:cNvPr id="9" name="8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ólo el título">
    <p:spTree>
      <p:nvGrpSpPr>
        <p:cNvPr id="1" name=""/>
        <p:cNvGrpSpPr/>
        <p:nvPr/>
      </p:nvGrpSpPr>
      <p:grpSpPr>
        <a:xfrm>
          <a:off x="0" y="0"/>
          <a:ext cx="0" cy="0"/>
          <a:chOff x="0" y="0"/>
          <a:chExt cx="0" cy="0"/>
        </a:xfrm>
      </p:grpSpPr>
      <p:sp>
        <p:nvSpPr>
          <p:cNvPr id="2" name="1 Título"/>
          <p:cNvSpPr>
            <a:spLocks noGrp="1"/>
          </p:cNvSpPr>
          <p:nvPr>
            <p:ph type="title"/>
          </p:nvPr>
        </p:nvSpPr>
        <p:spPr/>
        <p:txBody>
          <a:bodyPr/>
          <a:lstStyle>
            <a:extLst/>
          </a:lstStyle>
          <a:p>
            <a:r>
              <a:rPr kumimoji="0" lang="es-ES" smtClean="0"/>
              <a:t>Haga clic para modificar el estilo de título del patrón</a:t>
            </a:r>
            <a:endParaRPr kumimoji="0" lang="en-US"/>
          </a:p>
        </p:txBody>
      </p:sp>
      <p:sp>
        <p:nvSpPr>
          <p:cNvPr id="3" name="2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4" name="3 Marcador de pie de página"/>
          <p:cNvSpPr>
            <a:spLocks noGrp="1"/>
          </p:cNvSpPr>
          <p:nvPr>
            <p:ph type="ftr" sz="quarter" idx="11"/>
          </p:nvPr>
        </p:nvSpPr>
        <p:spPr/>
        <p:txBody>
          <a:bodyPr/>
          <a:lstStyle>
            <a:extLst/>
          </a:lstStyle>
          <a:p>
            <a:endParaRPr lang="es-ES"/>
          </a:p>
        </p:txBody>
      </p:sp>
      <p:sp>
        <p:nvSpPr>
          <p:cNvPr id="5" name="4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En blanco">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1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3" name="2 Marcador de pie de página"/>
          <p:cNvSpPr>
            <a:spLocks noGrp="1"/>
          </p:cNvSpPr>
          <p:nvPr>
            <p:ph type="ftr" sz="quarter" idx="11"/>
          </p:nvPr>
        </p:nvSpPr>
        <p:spPr/>
        <p:txBody>
          <a:bodyPr/>
          <a:lstStyle>
            <a:extLst/>
          </a:lstStyle>
          <a:p>
            <a:endParaRPr lang="es-ES"/>
          </a:p>
        </p:txBody>
      </p:sp>
      <p:sp>
        <p:nvSpPr>
          <p:cNvPr id="4" name="3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1 Título"/>
          <p:cNvSpPr>
            <a:spLocks noGrp="1"/>
          </p:cNvSpPr>
          <p:nvPr>
            <p:ph type="title"/>
          </p:nvPr>
        </p:nvSpPr>
        <p:spPr>
          <a:xfrm>
            <a:off x="5538784" y="533400"/>
            <a:ext cx="2971800" cy="914400"/>
          </a:xfrm>
        </p:spPr>
        <p:txBody>
          <a:bodyPr anchor="b"/>
          <a:lstStyle>
            <a:lvl1pPr algn="l">
              <a:buNone/>
              <a:defRPr sz="2200" b="1">
                <a:solidFill>
                  <a:schemeClr val="accent1"/>
                </a:solidFill>
              </a:defRPr>
            </a:lvl1pPr>
            <a:extLst/>
          </a:lstStyle>
          <a:p>
            <a:r>
              <a:rPr kumimoji="0" lang="es-ES" smtClean="0"/>
              <a:t>Haga clic para modificar el estilo de título del patrón</a:t>
            </a:r>
            <a:endParaRPr kumimoji="0" lang="en-US"/>
          </a:p>
        </p:txBody>
      </p:sp>
      <p:sp>
        <p:nvSpPr>
          <p:cNvPr id="3" name="2 Marcador de texto"/>
          <p:cNvSpPr>
            <a:spLocks noGrp="1"/>
          </p:cNvSpPr>
          <p:nvPr>
            <p:ph type="body" idx="2"/>
          </p:nvPr>
        </p:nvSpPr>
        <p:spPr>
          <a:xfrm>
            <a:off x="5538847" y="1447802"/>
            <a:ext cx="2971800" cy="4206112"/>
          </a:xfrm>
        </p:spPr>
        <p:txBody>
          <a:bodyPr lIns="91440"/>
          <a:lstStyle>
            <a:lvl1pPr marL="18288" marR="18288" indent="0">
              <a:spcBef>
                <a:spcPts val="0"/>
              </a:spcBef>
              <a:buNone/>
              <a:defRPr sz="1400">
                <a:solidFill>
                  <a:schemeClr val="tx1"/>
                </a:solidFill>
              </a:defRPr>
            </a:lvl1pPr>
            <a:lvl2pPr>
              <a:buNone/>
              <a:defRPr sz="1200">
                <a:solidFill>
                  <a:schemeClr val="tx1"/>
                </a:solidFill>
              </a:defRPr>
            </a:lvl2pPr>
            <a:lvl3pPr>
              <a:buNone/>
              <a:defRPr sz="1000">
                <a:solidFill>
                  <a:schemeClr val="tx1"/>
                </a:solidFill>
              </a:defRPr>
            </a:lvl3pPr>
            <a:lvl4pPr>
              <a:buNone/>
              <a:defRPr sz="900">
                <a:solidFill>
                  <a:schemeClr val="tx1"/>
                </a:solidFill>
              </a:defRPr>
            </a:lvl4pPr>
            <a:lvl5pPr>
              <a:buNone/>
              <a:defRPr sz="900">
                <a:solidFill>
                  <a:schemeClr val="tx1"/>
                </a:solidFill>
              </a:defRPr>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contenido"/>
          <p:cNvSpPr>
            <a:spLocks noGrp="1"/>
          </p:cNvSpPr>
          <p:nvPr>
            <p:ph sz="half" idx="1"/>
          </p:nvPr>
        </p:nvSpPr>
        <p:spPr>
          <a:xfrm>
            <a:off x="761372" y="930144"/>
            <a:ext cx="4626159" cy="4724402"/>
          </a:xfrm>
        </p:spPr>
        <p:txBody>
          <a:bodyPr/>
          <a:lstStyle>
            <a:lvl1pPr>
              <a:defRPr sz="2800">
                <a:solidFill>
                  <a:schemeClr val="tx1"/>
                </a:solidFill>
              </a:defRPr>
            </a:lvl1pPr>
            <a:lvl2pPr>
              <a:defRPr sz="2600">
                <a:solidFill>
                  <a:schemeClr val="tx1"/>
                </a:solidFill>
              </a:defRPr>
            </a:lvl2pPr>
            <a:lvl3pPr>
              <a:defRPr sz="2400">
                <a:solidFill>
                  <a:schemeClr val="tx1"/>
                </a:solidFill>
              </a:defRPr>
            </a:lvl3pPr>
            <a:lvl4pPr>
              <a:defRPr sz="2000">
                <a:solidFill>
                  <a:schemeClr val="tx1"/>
                </a:solidFill>
              </a:defRPr>
            </a:lvl4pPr>
            <a:lvl5pPr>
              <a:defRPr sz="2000">
                <a:solidFill>
                  <a:schemeClr val="tx1"/>
                </a:solidFill>
              </a:defRPr>
            </a:lvl5pPr>
            <a:lvl6pPr>
              <a:buNone/>
              <a:defRPr/>
            </a:lvl6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Imagen con título">
    <p:spTree>
      <p:nvGrpSpPr>
        <p:cNvPr id="1" name=""/>
        <p:cNvGrpSpPr/>
        <p:nvPr/>
      </p:nvGrpSpPr>
      <p:grpSpPr>
        <a:xfrm>
          <a:off x="0" y="0"/>
          <a:ext cx="0" cy="0"/>
          <a:chOff x="0" y="0"/>
          <a:chExt cx="0" cy="0"/>
        </a:xfrm>
      </p:grpSpPr>
      <p:sp>
        <p:nvSpPr>
          <p:cNvPr id="15" name="14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1" name="10 Redondear rectángulo de esquina sencilla"/>
          <p:cNvSpPr/>
          <p:nvPr/>
        </p:nvSpPr>
        <p:spPr>
          <a:xfrm>
            <a:off x="6400800" y="434162"/>
            <a:ext cx="2324605" cy="4343400"/>
          </a:xfrm>
          <a:prstGeom prst="round1Rect">
            <a:avLst>
              <a:gd name="adj" fmla="val 2748"/>
            </a:avLst>
          </a:prstGeom>
          <a:solidFill>
            <a:srgbClr val="1C1C1C"/>
          </a:soli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2" name="1 Título"/>
          <p:cNvSpPr>
            <a:spLocks noGrp="1"/>
          </p:cNvSpPr>
          <p:nvPr>
            <p:ph type="title"/>
          </p:nvPr>
        </p:nvSpPr>
        <p:spPr>
          <a:xfrm>
            <a:off x="457200" y="5012056"/>
            <a:ext cx="8229600" cy="1051560"/>
          </a:xfrm>
        </p:spPr>
        <p:txBody>
          <a:bodyPr anchor="t"/>
          <a:lstStyle>
            <a:lvl1pPr algn="l">
              <a:buNone/>
              <a:defRPr sz="3600" b="0">
                <a:solidFill>
                  <a:schemeClr val="bg2">
                    <a:shade val="25000"/>
                  </a:schemeClr>
                </a:solidFill>
                <a:effectLst/>
              </a:defRPr>
            </a:lvl1pPr>
            <a:extLst/>
          </a:lstStyle>
          <a:p>
            <a:r>
              <a:rPr kumimoji="0" lang="es-ES" smtClean="0"/>
              <a:t>Haga clic para modificar el estilo de título del patrón</a:t>
            </a:r>
            <a:endParaRPr kumimoji="0" lang="en-US"/>
          </a:p>
        </p:txBody>
      </p:sp>
      <p:sp>
        <p:nvSpPr>
          <p:cNvPr id="4" name="3 Marcador de texto"/>
          <p:cNvSpPr>
            <a:spLocks noGrp="1"/>
          </p:cNvSpPr>
          <p:nvPr>
            <p:ph type="body" sz="half" idx="2"/>
          </p:nvPr>
        </p:nvSpPr>
        <p:spPr bwMode="grayWhite">
          <a:xfrm>
            <a:off x="6462712" y="533400"/>
            <a:ext cx="2240280" cy="4211480"/>
          </a:xfrm>
        </p:spPr>
        <p:txBody>
          <a:bodyPr lIns="91440"/>
          <a:lstStyle>
            <a:lvl1pPr marL="45720" indent="0" algn="l">
              <a:spcBef>
                <a:spcPts val="0"/>
              </a:spcBef>
              <a:buNone/>
              <a:defRPr sz="1400">
                <a:solidFill>
                  <a:srgbClr val="FFFFFF"/>
                </a:solidFill>
              </a:defRPr>
            </a:lvl1pPr>
            <a:lvl2pPr>
              <a:defRPr sz="1200">
                <a:solidFill>
                  <a:srgbClr val="FFFFFF"/>
                </a:solidFill>
              </a:defRPr>
            </a:lvl2pPr>
            <a:lvl3pPr>
              <a:defRPr sz="1000">
                <a:solidFill>
                  <a:srgbClr val="FFFFFF"/>
                </a:solidFill>
              </a:defRPr>
            </a:lvl3pPr>
            <a:lvl4pPr>
              <a:defRPr sz="900">
                <a:solidFill>
                  <a:srgbClr val="FFFFFF"/>
                </a:solidFill>
              </a:defRPr>
            </a:lvl4pPr>
            <a:lvl5pPr>
              <a:defRPr sz="900">
                <a:solidFill>
                  <a:srgbClr val="FFFFFF"/>
                </a:solidFill>
              </a:defRPr>
            </a:lvl5pPr>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5" name="4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6" name="5 Marcador de pie de página"/>
          <p:cNvSpPr>
            <a:spLocks noGrp="1"/>
          </p:cNvSpPr>
          <p:nvPr>
            <p:ph type="ftr" sz="quarter" idx="11"/>
          </p:nvPr>
        </p:nvSpPr>
        <p:spPr/>
        <p:txBody>
          <a:bodyPr/>
          <a:lstStyle>
            <a:extLst/>
          </a:lstStyle>
          <a:p>
            <a:endParaRPr lang="es-ES"/>
          </a:p>
        </p:txBody>
      </p:sp>
      <p:sp>
        <p:nvSpPr>
          <p:cNvPr id="7" name="6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
        <p:nvSpPr>
          <p:cNvPr id="3" name="2 Marcador de posición de imagen"/>
          <p:cNvSpPr>
            <a:spLocks noGrp="1"/>
          </p:cNvSpPr>
          <p:nvPr>
            <p:ph type="pic" idx="1"/>
          </p:nvPr>
        </p:nvSpPr>
        <p:spPr>
          <a:xfrm>
            <a:off x="421480" y="435768"/>
            <a:ext cx="5925312" cy="4343400"/>
          </a:xfrm>
          <a:prstGeom prst="snipRoundRect">
            <a:avLst>
              <a:gd name="adj1" fmla="val 1040"/>
              <a:gd name="adj2" fmla="val 0"/>
            </a:avLst>
          </a:prstGeom>
          <a:solidFill>
            <a:schemeClr val="bg2">
              <a:shade val="10000"/>
            </a:schemeClr>
          </a:solidFill>
        </p:spPr>
        <p:txBody>
          <a:bodyPr/>
          <a:lstStyle>
            <a:lvl1pPr marL="0" indent="0">
              <a:buNone/>
              <a:defRPr sz="3200"/>
            </a:lvl1pPr>
            <a:extLst/>
          </a:lstStyle>
          <a:p>
            <a:r>
              <a:rPr kumimoji="0" lang="es-ES" smtClean="0"/>
              <a:t>Haga clic en el icono para agregar una imagen</a:t>
            </a:r>
            <a:endParaRPr kumimoji="0"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1 Título"/>
          <p:cNvSpPr>
            <a:spLocks noGrp="1"/>
          </p:cNvSpPr>
          <p:nvPr>
            <p:ph type="title"/>
          </p:nvPr>
        </p:nvSpPr>
        <p:spPr>
          <a:xfrm>
            <a:off x="502920" y="4983480"/>
            <a:ext cx="8183880" cy="1051560"/>
          </a:xfrm>
        </p:spPr>
        <p:txBody>
          <a:bodyPr/>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502920" y="530352"/>
            <a:ext cx="8183880" cy="4187952"/>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1 Título vertical"/>
          <p:cNvSpPr>
            <a:spLocks noGrp="1"/>
          </p:cNvSpPr>
          <p:nvPr>
            <p:ph type="title" orient="vert"/>
          </p:nvPr>
        </p:nvSpPr>
        <p:spPr>
          <a:xfrm>
            <a:off x="6629400" y="533404"/>
            <a:ext cx="1981200" cy="5257799"/>
          </a:xfrm>
        </p:spPr>
        <p:txBody>
          <a:bodyPr vert="eaVert"/>
          <a:lstStyle>
            <a:extLst/>
          </a:lstStyle>
          <a:p>
            <a:r>
              <a:rPr kumimoji="0" lang="es-ES" smtClean="0"/>
              <a:t>Haga clic para modificar el estilo de título del patrón</a:t>
            </a:r>
            <a:endParaRPr kumimoji="0" lang="en-US"/>
          </a:p>
        </p:txBody>
      </p:sp>
      <p:sp>
        <p:nvSpPr>
          <p:cNvPr id="3" name="2 Marcador de texto vertical"/>
          <p:cNvSpPr>
            <a:spLocks noGrp="1"/>
          </p:cNvSpPr>
          <p:nvPr>
            <p:ph type="body" orient="vert" idx="1"/>
          </p:nvPr>
        </p:nvSpPr>
        <p:spPr>
          <a:xfrm>
            <a:off x="533400" y="533402"/>
            <a:ext cx="5943600" cy="5257801"/>
          </a:xfrm>
        </p:spPr>
        <p:txBody>
          <a:bodyPr vert="eaVert"/>
          <a:lstStyle>
            <a:extLst/>
          </a:lstStyle>
          <a:p>
            <a:pPr lvl="0" eaLnBrk="1" latinLnBrk="0" hangingPunct="1"/>
            <a:r>
              <a:rPr lang="es-ES" smtClean="0"/>
              <a:t>Haga clic para modificar el estilo de texto del patrón</a:t>
            </a:r>
          </a:p>
          <a:p>
            <a:pPr lvl="1" eaLnBrk="1" latinLnBrk="0" hangingPunct="1"/>
            <a:r>
              <a:rPr lang="es-ES" smtClean="0"/>
              <a:t>Segundo nivel</a:t>
            </a:r>
          </a:p>
          <a:p>
            <a:pPr lvl="2" eaLnBrk="1" latinLnBrk="0" hangingPunct="1"/>
            <a:r>
              <a:rPr lang="es-ES" smtClean="0"/>
              <a:t>Tercer nivel</a:t>
            </a:r>
          </a:p>
          <a:p>
            <a:pPr lvl="3" eaLnBrk="1" latinLnBrk="0" hangingPunct="1"/>
            <a:r>
              <a:rPr lang="es-ES" smtClean="0"/>
              <a:t>Cuarto nivel</a:t>
            </a:r>
          </a:p>
          <a:p>
            <a:pPr lvl="4" eaLnBrk="1" latinLnBrk="0" hangingPunct="1"/>
            <a:r>
              <a:rPr lang="es-ES" smtClean="0"/>
              <a:t>Quinto nivel</a:t>
            </a:r>
            <a:endParaRPr kumimoji="0" lang="en-US"/>
          </a:p>
        </p:txBody>
      </p:sp>
      <p:sp>
        <p:nvSpPr>
          <p:cNvPr id="4" name="3 Marcador de fecha"/>
          <p:cNvSpPr>
            <a:spLocks noGrp="1"/>
          </p:cNvSpPr>
          <p:nvPr>
            <p:ph type="dt" sz="half" idx="10"/>
          </p:nvPr>
        </p:nvSpPr>
        <p:spPr/>
        <p:txBody>
          <a:bodyPr/>
          <a:lstStyle>
            <a:extLst/>
          </a:lstStyle>
          <a:p>
            <a:fld id="{9BF2D5E6-5C1B-44B1-A402-56B12CB57603}" type="datetimeFigureOut">
              <a:rPr lang="es-ES" smtClean="0"/>
              <a:t>09/10/2018</a:t>
            </a:fld>
            <a:endParaRPr lang="es-ES"/>
          </a:p>
        </p:txBody>
      </p:sp>
      <p:sp>
        <p:nvSpPr>
          <p:cNvPr id="5" name="4 Marcador de pie de página"/>
          <p:cNvSpPr>
            <a:spLocks noGrp="1"/>
          </p:cNvSpPr>
          <p:nvPr>
            <p:ph type="ftr" sz="quarter" idx="11"/>
          </p:nvPr>
        </p:nvSpPr>
        <p:spPr/>
        <p:txBody>
          <a:bodyPr/>
          <a:lstStyle>
            <a:extLst/>
          </a:lstStyle>
          <a:p>
            <a:endParaRPr lang="es-ES"/>
          </a:p>
        </p:txBody>
      </p:sp>
      <p:sp>
        <p:nvSpPr>
          <p:cNvPr id="6" name="5 Marcador de número de diapositiva"/>
          <p:cNvSpPr>
            <a:spLocks noGrp="1"/>
          </p:cNvSpPr>
          <p:nvPr>
            <p:ph type="sldNum" sz="quarter" idx="12"/>
          </p:nvPr>
        </p:nvSpPr>
        <p:spPr/>
        <p:txBody>
          <a:bodyPr/>
          <a:lstStyle>
            <a:extLst/>
          </a:lstStyle>
          <a:p>
            <a:fld id="{1F9FAEC9-817D-42FF-A961-98856B7C3D73}" type="slidenum">
              <a:rPr lang="es-ES" smtClean="0"/>
              <a:t>‹Nº›</a:t>
            </a:fld>
            <a:endParaRPr lang="es-E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7" name="6 Rectángulo redondeado"/>
          <p:cNvSpPr/>
          <p:nvPr/>
        </p:nvSpPr>
        <p:spPr>
          <a:xfrm>
            <a:off x="304800" y="329184"/>
            <a:ext cx="8532055" cy="6196819"/>
          </a:xfrm>
          <a:prstGeom prst="roundRect">
            <a:avLst>
              <a:gd name="adj" fmla="val 2081"/>
            </a:avLst>
          </a:prstGeom>
          <a:gradFill flip="none" rotWithShape="1">
            <a:gsLst>
              <a:gs pos="0">
                <a:srgbClr val="FFFFFF">
                  <a:shade val="100000"/>
                </a:srgbClr>
              </a:gs>
              <a:gs pos="98000">
                <a:srgbClr val="FFFFFF">
                  <a:shade val="100000"/>
                </a:srgbClr>
              </a:gs>
              <a:gs pos="99055">
                <a:srgbClr val="FFFFFF">
                  <a:shade val="93000"/>
                </a:srgbClr>
              </a:gs>
              <a:gs pos="100000">
                <a:srgbClr val="FFFFFF">
                  <a:shade val="70000"/>
                </a:srgbClr>
              </a:gs>
            </a:gsLst>
            <a:lin ang="5400000" scaled="1"/>
            <a:tileRect/>
          </a:gradFill>
          <a:ln w="2000" cap="rnd" cmpd="sng" algn="ctr">
            <a:solidFill>
              <a:srgbClr val="302F2C">
                <a:tint val="65000"/>
                <a:satMod val="120000"/>
              </a:srgbClr>
            </a:solidFill>
            <a:prstDash val="solid"/>
          </a:ln>
          <a:effectLst>
            <a:outerShdw blurRad="76200" dist="50800" dir="5400000" algn="tl" rotWithShape="0">
              <a:srgbClr val="000000">
                <a:alpha val="25000"/>
              </a:srgbClr>
            </a:outerShdw>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9" name="8 Rectángulo redondeado"/>
          <p:cNvSpPr/>
          <p:nvPr/>
        </p:nvSpPr>
        <p:spPr>
          <a:xfrm>
            <a:off x="418596" y="434162"/>
            <a:ext cx="8306809" cy="5486400"/>
          </a:xfrm>
          <a:prstGeom prst="roundRect">
            <a:avLst>
              <a:gd name="adj" fmla="val 2127"/>
            </a:avLst>
          </a:prstGeom>
          <a:gradFill rotWithShape="1">
            <a:gsLst>
              <a:gs pos="0">
                <a:schemeClr val="bg1">
                  <a:tint val="75000"/>
                  <a:satMod val="150000"/>
                </a:schemeClr>
              </a:gs>
              <a:gs pos="55000">
                <a:schemeClr val="bg1">
                  <a:shade val="75000"/>
                  <a:satMod val="100000"/>
                </a:schemeClr>
              </a:gs>
              <a:gs pos="100000">
                <a:schemeClr val="bg1">
                  <a:shade val="35000"/>
                  <a:satMod val="100000"/>
                </a:schemeClr>
              </a:gs>
            </a:gsLst>
            <a:path path="circle">
              <a:fillToRect l="50000" t="175000" r="50000" b="-75000"/>
            </a:path>
          </a:gradFill>
          <a:ln w="889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extLst/>
          </a:lstStyle>
          <a:p>
            <a:pPr algn="ctr" eaLnBrk="1" latinLnBrk="0" hangingPunct="1"/>
            <a:endParaRPr kumimoji="0" lang="en-US"/>
          </a:p>
        </p:txBody>
      </p:sp>
      <p:sp>
        <p:nvSpPr>
          <p:cNvPr id="13" name="12 Marcador de título"/>
          <p:cNvSpPr>
            <a:spLocks noGrp="1"/>
          </p:cNvSpPr>
          <p:nvPr>
            <p:ph type="title"/>
          </p:nvPr>
        </p:nvSpPr>
        <p:spPr>
          <a:xfrm>
            <a:off x="502920" y="4985590"/>
            <a:ext cx="8183880" cy="1051560"/>
          </a:xfrm>
          <a:prstGeom prst="rect">
            <a:avLst/>
          </a:prstGeom>
        </p:spPr>
        <p:txBody>
          <a:bodyPr vert="horz" anchor="b">
            <a:normAutofit/>
          </a:bodyPr>
          <a:lstStyle>
            <a:extLst/>
          </a:lstStyle>
          <a:p>
            <a:r>
              <a:rPr kumimoji="0" lang="es-ES" smtClean="0"/>
              <a:t>Haga clic para modificar el estilo de título del patrón</a:t>
            </a:r>
            <a:endParaRPr kumimoji="0" lang="en-US"/>
          </a:p>
        </p:txBody>
      </p:sp>
      <p:sp>
        <p:nvSpPr>
          <p:cNvPr id="4" name="3 Marcador de texto"/>
          <p:cNvSpPr>
            <a:spLocks noGrp="1"/>
          </p:cNvSpPr>
          <p:nvPr>
            <p:ph type="body" idx="1"/>
          </p:nvPr>
        </p:nvSpPr>
        <p:spPr>
          <a:xfrm>
            <a:off x="502920" y="530352"/>
            <a:ext cx="8183880" cy="4187952"/>
          </a:xfrm>
          <a:prstGeom prst="rect">
            <a:avLst/>
          </a:prstGeom>
        </p:spPr>
        <p:txBody>
          <a:bodyPr vert="horz" lIns="182880" tIns="91440">
            <a:normAutofit/>
          </a:bodyPr>
          <a:lstStyle>
            <a:extLst/>
          </a:lstStyle>
          <a:p>
            <a:pPr lvl="0" eaLnBrk="1" latinLnBrk="0" hangingPunct="1"/>
            <a:r>
              <a:rPr kumimoji="0" lang="es-ES" smtClean="0"/>
              <a:t>Haga clic para modificar el estilo de texto del patrón</a:t>
            </a:r>
          </a:p>
          <a:p>
            <a:pPr lvl="1" eaLnBrk="1" latinLnBrk="0" hangingPunct="1"/>
            <a:r>
              <a:rPr kumimoji="0" lang="es-ES" smtClean="0"/>
              <a:t>Segundo nivel</a:t>
            </a:r>
          </a:p>
          <a:p>
            <a:pPr lvl="2" eaLnBrk="1" latinLnBrk="0" hangingPunct="1"/>
            <a:r>
              <a:rPr kumimoji="0" lang="es-ES" smtClean="0"/>
              <a:t>Tercer nivel</a:t>
            </a:r>
          </a:p>
          <a:p>
            <a:pPr lvl="3" eaLnBrk="1" latinLnBrk="0" hangingPunct="1"/>
            <a:r>
              <a:rPr kumimoji="0" lang="es-ES" smtClean="0"/>
              <a:t>Cuarto nivel</a:t>
            </a:r>
          </a:p>
          <a:p>
            <a:pPr lvl="4" eaLnBrk="1" latinLnBrk="0" hangingPunct="1"/>
            <a:r>
              <a:rPr kumimoji="0" lang="es-ES" smtClean="0"/>
              <a:t>Quinto nivel</a:t>
            </a:r>
            <a:endParaRPr kumimoji="0" lang="en-US"/>
          </a:p>
        </p:txBody>
      </p:sp>
      <p:sp>
        <p:nvSpPr>
          <p:cNvPr id="25" name="24 Marcador de fecha"/>
          <p:cNvSpPr>
            <a:spLocks noGrp="1"/>
          </p:cNvSpPr>
          <p:nvPr>
            <p:ph type="dt" sz="half" idx="2"/>
          </p:nvPr>
        </p:nvSpPr>
        <p:spPr>
          <a:xfrm>
            <a:off x="3776328" y="6111875"/>
            <a:ext cx="22860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9BF2D5E6-5C1B-44B1-A402-56B12CB57603}" type="datetimeFigureOut">
              <a:rPr lang="es-ES" smtClean="0"/>
              <a:t>09/10/2018</a:t>
            </a:fld>
            <a:endParaRPr lang="es-ES"/>
          </a:p>
        </p:txBody>
      </p:sp>
      <p:sp>
        <p:nvSpPr>
          <p:cNvPr id="18" name="17 Marcador de pie de página"/>
          <p:cNvSpPr>
            <a:spLocks noGrp="1"/>
          </p:cNvSpPr>
          <p:nvPr>
            <p:ph type="ftr" sz="quarter" idx="3"/>
          </p:nvPr>
        </p:nvSpPr>
        <p:spPr>
          <a:xfrm>
            <a:off x="6062328" y="6111875"/>
            <a:ext cx="2286000" cy="365125"/>
          </a:xfrm>
          <a:prstGeom prst="rect">
            <a:avLst/>
          </a:prstGeom>
        </p:spPr>
        <p:txBody>
          <a:bodyPr vert="horz" anchor="b"/>
          <a:lstStyle>
            <a:lvl1pPr algn="l" eaLnBrk="1" latinLnBrk="0" hangingPunct="1">
              <a:defRPr kumimoji="0" sz="1000">
                <a:solidFill>
                  <a:schemeClr val="bg2">
                    <a:shade val="50000"/>
                  </a:schemeClr>
                </a:solidFill>
              </a:defRPr>
            </a:lvl1pPr>
            <a:extLst/>
          </a:lstStyle>
          <a:p>
            <a:endParaRPr lang="es-ES"/>
          </a:p>
        </p:txBody>
      </p:sp>
      <p:sp>
        <p:nvSpPr>
          <p:cNvPr id="5" name="4 Marcador de número de diapositiva"/>
          <p:cNvSpPr>
            <a:spLocks noGrp="1"/>
          </p:cNvSpPr>
          <p:nvPr>
            <p:ph type="sldNum" sz="quarter" idx="4"/>
          </p:nvPr>
        </p:nvSpPr>
        <p:spPr>
          <a:xfrm>
            <a:off x="8348328" y="6111875"/>
            <a:ext cx="457200" cy="365125"/>
          </a:xfrm>
          <a:prstGeom prst="rect">
            <a:avLst/>
          </a:prstGeom>
        </p:spPr>
        <p:txBody>
          <a:bodyPr vert="horz" anchor="b"/>
          <a:lstStyle>
            <a:lvl1pPr algn="r" eaLnBrk="1" latinLnBrk="0" hangingPunct="1">
              <a:defRPr kumimoji="0" sz="1000">
                <a:solidFill>
                  <a:schemeClr val="bg2">
                    <a:shade val="50000"/>
                  </a:schemeClr>
                </a:solidFill>
              </a:defRPr>
            </a:lvl1pPr>
            <a:extLst/>
          </a:lstStyle>
          <a:p>
            <a:fld id="{1F9FAEC9-817D-42FF-A961-98856B7C3D73}" type="slidenum">
              <a:rPr lang="es-ES" smtClean="0"/>
              <a:t>‹Nº›</a:t>
            </a:fld>
            <a:endParaRPr lang="es-E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p:titleStyle>
    <p:bodyStyle>
      <a:lvl1pPr marL="265176" indent="-265176" algn="l" rtl="0" eaLnBrk="1" latinLnBrk="0" hangingPunct="1">
        <a:spcBef>
          <a:spcPts val="250"/>
        </a:spcBef>
        <a:buClr>
          <a:schemeClr val="accent1"/>
        </a:buClr>
        <a:buSzPct val="80000"/>
        <a:buFont typeface="Wingdings 2"/>
        <a:buChar char=""/>
        <a:defRPr kumimoji="0" sz="2800" kern="1200">
          <a:solidFill>
            <a:schemeClr val="tx1"/>
          </a:solidFill>
          <a:effectLst/>
          <a:latin typeface="+mn-lt"/>
          <a:ea typeface="+mn-ea"/>
          <a:cs typeface="+mn-cs"/>
        </a:defRPr>
      </a:lvl1pPr>
      <a:lvl2pPr marL="548640" indent="-201168" algn="l" rtl="0" eaLnBrk="1" latinLnBrk="0" hangingPunct="1">
        <a:spcBef>
          <a:spcPts val="250"/>
        </a:spcBef>
        <a:buClr>
          <a:schemeClr val="accent1"/>
        </a:buClr>
        <a:buSzPct val="100000"/>
        <a:buFont typeface="Verdana"/>
        <a:buChar char="◦"/>
        <a:defRPr kumimoji="0" sz="2400" kern="1200">
          <a:solidFill>
            <a:schemeClr val="tx1"/>
          </a:solidFill>
          <a:latin typeface="+mn-lt"/>
          <a:ea typeface="+mn-ea"/>
          <a:cs typeface="+mn-cs"/>
        </a:defRPr>
      </a:lvl2pPr>
      <a:lvl3pPr marL="786384" indent="-182880" algn="l" rtl="0" eaLnBrk="1" latinLnBrk="0" hangingPunct="1">
        <a:spcBef>
          <a:spcPts val="250"/>
        </a:spcBef>
        <a:buClr>
          <a:schemeClr val="accent2">
            <a:tint val="85000"/>
            <a:satMod val="285000"/>
          </a:schemeClr>
        </a:buClr>
        <a:buSzPct val="100000"/>
        <a:buFont typeface="Wingdings 2"/>
        <a:buChar char=""/>
        <a:defRPr kumimoji="0" sz="2200" kern="1200">
          <a:solidFill>
            <a:schemeClr val="tx1"/>
          </a:solidFill>
          <a:latin typeface="+mn-lt"/>
          <a:ea typeface="+mn-ea"/>
          <a:cs typeface="+mn-cs"/>
        </a:defRPr>
      </a:lvl3pPr>
      <a:lvl4pPr marL="1024128" indent="-182880" algn="l" rtl="0" eaLnBrk="1" latinLnBrk="0" hangingPunct="1">
        <a:spcBef>
          <a:spcPts val="230"/>
        </a:spcBef>
        <a:buClr>
          <a:schemeClr val="accent2">
            <a:tint val="85000"/>
            <a:satMod val="285000"/>
          </a:schemeClr>
        </a:buClr>
        <a:buSzPct val="112000"/>
        <a:buFont typeface="Verdana"/>
        <a:buChar char="◦"/>
        <a:defRPr kumimoji="0" sz="1900" kern="1200">
          <a:solidFill>
            <a:schemeClr val="tx1"/>
          </a:solidFill>
          <a:latin typeface="+mn-lt"/>
          <a:ea typeface="+mn-ea"/>
          <a:cs typeface="+mn-cs"/>
        </a:defRPr>
      </a:lvl4pPr>
      <a:lvl5pPr marL="1280160" indent="-182880" algn="l" rtl="0" eaLnBrk="1" latinLnBrk="0" hangingPunct="1">
        <a:spcBef>
          <a:spcPts val="250"/>
        </a:spcBef>
        <a:buClr>
          <a:schemeClr val="accent3">
            <a:tint val="85000"/>
            <a:satMod val="275000"/>
          </a:schemeClr>
        </a:buClr>
        <a:buSzPct val="100000"/>
        <a:buFont typeface="Wingdings 2"/>
        <a:buChar char=""/>
        <a:defRPr kumimoji="0" sz="1800" kern="1200">
          <a:solidFill>
            <a:schemeClr val="tx1"/>
          </a:solidFill>
          <a:latin typeface="+mn-lt"/>
          <a:ea typeface="+mn-ea"/>
          <a:cs typeface="+mn-cs"/>
        </a:defRPr>
      </a:lvl5pPr>
      <a:lvl6pPr marL="1490472" indent="-182880" algn="l" rtl="0" eaLnBrk="1" latinLnBrk="0" hangingPunct="1">
        <a:spcBef>
          <a:spcPts val="250"/>
        </a:spcBef>
        <a:buClr>
          <a:schemeClr val="accent3">
            <a:tint val="85000"/>
            <a:satMod val="275000"/>
          </a:schemeClr>
        </a:buClr>
        <a:buSzPct val="100000"/>
        <a:buFont typeface="Verdana"/>
        <a:buChar char="◦"/>
        <a:defRPr kumimoji="0" sz="1700" kern="1200" baseline="0">
          <a:solidFill>
            <a:schemeClr val="tx1"/>
          </a:solidFill>
          <a:latin typeface="+mn-lt"/>
          <a:ea typeface="+mn-ea"/>
          <a:cs typeface="+mn-cs"/>
        </a:defRPr>
      </a:lvl6pPr>
      <a:lvl7pPr marL="1700784"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7pPr>
      <a:lvl8pPr marL="1920240" indent="-182880" algn="l" rtl="0" eaLnBrk="1" latinLnBrk="0" hangingPunct="1">
        <a:spcBef>
          <a:spcPts val="257"/>
        </a:spcBef>
        <a:buClr>
          <a:schemeClr val="accent3">
            <a:tint val="85000"/>
            <a:satMod val="275000"/>
          </a:schemeClr>
        </a:buClr>
        <a:buSzPct val="100000"/>
        <a:buFont typeface="Verdana"/>
        <a:buChar char="◦"/>
        <a:defRPr kumimoji="0" sz="1500" kern="1200" baseline="0">
          <a:solidFill>
            <a:schemeClr val="tx1"/>
          </a:solidFill>
          <a:latin typeface="+mn-lt"/>
          <a:ea typeface="+mn-ea"/>
          <a:cs typeface="+mn-cs"/>
        </a:defRPr>
      </a:lvl8pPr>
      <a:lvl9pPr marL="2148840" indent="-182880" algn="l" rtl="0" eaLnBrk="1" latinLnBrk="0" hangingPunct="1">
        <a:spcBef>
          <a:spcPts val="255"/>
        </a:spcBef>
        <a:buClr>
          <a:schemeClr val="accent3">
            <a:tint val="85000"/>
            <a:satMod val="275000"/>
          </a:schemeClr>
        </a:buClr>
        <a:buSzPct val="100000"/>
        <a:buFont typeface="Wingdings 2"/>
        <a:buChar char=""/>
        <a:defRPr kumimoji="0" sz="1500" kern="1200">
          <a:solidFill>
            <a:schemeClr val="tx1"/>
          </a:solidFill>
          <a:latin typeface="+mn-lt"/>
          <a:ea typeface="+mn-ea"/>
          <a:cs typeface="+mn-cs"/>
        </a:defRPr>
      </a:lvl9pPr>
      <a:extLst/>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a:extLst/>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3">
            <a:extLst>
              <a:ext uri="{FF2B5EF4-FFF2-40B4-BE49-F238E27FC236}">
                <a16:creationId xmlns:a16="http://schemas.microsoft.com/office/drawing/2014/main" xmlns="" id="{F195E420-CF09-470E-96FE-491685DEBA3F}"/>
              </a:ext>
            </a:extLst>
          </p:cNvPr>
          <p:cNvPicPr>
            <a:picLocks noChangeAspect="1"/>
          </p:cNvPicPr>
          <p:nvPr/>
        </p:nvPicPr>
        <p:blipFill>
          <a:blip r:embed="rId2"/>
          <a:stretch>
            <a:fillRect/>
          </a:stretch>
        </p:blipFill>
        <p:spPr>
          <a:xfrm>
            <a:off x="5630447" y="5229200"/>
            <a:ext cx="3105150" cy="1181100"/>
          </a:xfrm>
          <a:prstGeom prst="rect">
            <a:avLst/>
          </a:prstGeom>
        </p:spPr>
      </p:pic>
      <p:sp>
        <p:nvSpPr>
          <p:cNvPr id="9" name="1 Título"/>
          <p:cNvSpPr txBox="1">
            <a:spLocks/>
          </p:cNvSpPr>
          <p:nvPr/>
        </p:nvSpPr>
        <p:spPr>
          <a:xfrm>
            <a:off x="448037" y="2996952"/>
            <a:ext cx="8183880" cy="1051560"/>
          </a:xfrm>
          <a:prstGeom prst="rect">
            <a:avLst/>
          </a:prstGeom>
        </p:spPr>
        <p:txBody>
          <a:bodyPr vert="horz" lIns="45720" rIns="45720" bIns="45720" anchor="b">
            <a:normAutofit fontScale="85000" lnSpcReduction="20000"/>
          </a:bodyPr>
          <a:lstStyle>
            <a:lvl1pPr algn="r" rtl="0" eaLnBrk="1" latinLnBrk="0" hangingPunct="1">
              <a:spcBef>
                <a:spcPct val="0"/>
              </a:spcBef>
              <a:buNone/>
              <a:defRPr kumimoji="0" sz="45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pPr algn="ctr"/>
            <a:r>
              <a:rPr lang="es-ES" dirty="0" smtClean="0"/>
              <a:t>DISEÑO ADAPTABLE WEB</a:t>
            </a:r>
          </a:p>
          <a:p>
            <a:pPr algn="ctr"/>
            <a:r>
              <a:rPr lang="es-ES" b="0" i="1" dirty="0" smtClean="0"/>
              <a:t>RESPONSIVE WEB DESIGN</a:t>
            </a:r>
            <a:endParaRPr lang="es-ES" b="0" i="1" dirty="0"/>
          </a:p>
        </p:txBody>
      </p:sp>
    </p:spTree>
    <p:extLst>
      <p:ext uri="{BB962C8B-B14F-4D97-AF65-F5344CB8AC3E}">
        <p14:creationId xmlns:p14="http://schemas.microsoft.com/office/powerpoint/2010/main" val="281232884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0648"/>
            <a:ext cx="8183880" cy="1051560"/>
          </a:xfrm>
        </p:spPr>
        <p:txBody>
          <a:bodyPr/>
          <a:lstStyle/>
          <a:p>
            <a:r>
              <a:rPr lang="es-ES" dirty="0" smtClean="0"/>
              <a:t>DEFINICION + FUNCIÓN </a:t>
            </a:r>
            <a:endParaRPr lang="es-ES" dirty="0"/>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8309" y="1772816"/>
            <a:ext cx="7567836" cy="36171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3082812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0648"/>
            <a:ext cx="8183880" cy="1051560"/>
          </a:xfrm>
        </p:spPr>
        <p:txBody>
          <a:bodyPr/>
          <a:lstStyle/>
          <a:p>
            <a:r>
              <a:rPr lang="es-ES" dirty="0"/>
              <a:t>DEFINICION + FUNCIÓN </a:t>
            </a:r>
          </a:p>
        </p:txBody>
      </p:sp>
      <p:sp>
        <p:nvSpPr>
          <p:cNvPr id="4" name="Testu-koadroa 487"/>
          <p:cNvSpPr txBox="1"/>
          <p:nvPr/>
        </p:nvSpPr>
        <p:spPr>
          <a:xfrm>
            <a:off x="755576" y="3717032"/>
            <a:ext cx="6984776" cy="1800200"/>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600"/>
              </a:spcAft>
            </a:pPr>
            <a:r>
              <a:rPr lang="en-GB" sz="900" dirty="0">
                <a:effectLst/>
                <a:latin typeface="Courier New"/>
                <a:ea typeface="Times New Roman"/>
                <a:cs typeface="Times New Roman"/>
              </a:rPr>
              <a:t> </a:t>
            </a:r>
            <a:endParaRPr lang="es-ES" sz="2800" dirty="0">
              <a:effectLst/>
              <a:ea typeface="Calibri"/>
              <a:cs typeface="Times New Roman"/>
            </a:endParaRPr>
          </a:p>
          <a:p>
            <a:pPr>
              <a:spcAft>
                <a:spcPts val="600"/>
              </a:spcAft>
            </a:pPr>
            <a:r>
              <a:rPr lang="en-GB" sz="2000" b="1" dirty="0">
                <a:effectLst/>
                <a:latin typeface="Courier New"/>
                <a:ea typeface="Times New Roman"/>
                <a:cs typeface="Times New Roman"/>
              </a:rPr>
              <a:t>&lt;meta </a:t>
            </a:r>
            <a:r>
              <a:rPr lang="en-GB" sz="2000" b="1" dirty="0">
                <a:solidFill>
                  <a:srgbClr val="244061"/>
                </a:solidFill>
                <a:effectLst/>
                <a:latin typeface="Courier New"/>
                <a:ea typeface="Times New Roman"/>
                <a:cs typeface="Times New Roman"/>
              </a:rPr>
              <a:t>name=</a:t>
            </a:r>
            <a:r>
              <a:rPr lang="en-GB" sz="2000" b="1" dirty="0">
                <a:solidFill>
                  <a:srgbClr val="984806"/>
                </a:solidFill>
                <a:effectLst/>
                <a:latin typeface="Courier New"/>
                <a:ea typeface="Times New Roman"/>
                <a:cs typeface="Times New Roman"/>
              </a:rPr>
              <a:t>"viewport" </a:t>
            </a:r>
            <a:r>
              <a:rPr lang="en-GB" sz="2000" b="1" dirty="0">
                <a:solidFill>
                  <a:srgbClr val="244061"/>
                </a:solidFill>
                <a:effectLst/>
                <a:latin typeface="Courier New"/>
                <a:ea typeface="Times New Roman"/>
                <a:cs typeface="Times New Roman"/>
              </a:rPr>
              <a:t>content=</a:t>
            </a:r>
            <a:r>
              <a:rPr lang="en-GB" sz="2000" b="1" dirty="0">
                <a:solidFill>
                  <a:srgbClr val="984806"/>
                </a:solidFill>
                <a:effectLst/>
                <a:latin typeface="Courier New"/>
                <a:ea typeface="Times New Roman"/>
                <a:cs typeface="Times New Roman"/>
              </a:rPr>
              <a:t>"width=device-width, minimum-scale=1.0, maximum-scale=1.0" </a:t>
            </a:r>
            <a:r>
              <a:rPr lang="en-GB" sz="2000" b="1" dirty="0">
                <a:effectLst/>
                <a:latin typeface="Courier New"/>
                <a:ea typeface="Times New Roman"/>
                <a:cs typeface="Times New Roman"/>
              </a:rPr>
              <a:t>/&gt;</a:t>
            </a:r>
            <a:endParaRPr lang="es-ES" sz="2800" dirty="0">
              <a:effectLst/>
              <a:ea typeface="Calibri"/>
              <a:cs typeface="Times New Roman"/>
            </a:endParaRPr>
          </a:p>
        </p:txBody>
      </p:sp>
      <p:sp>
        <p:nvSpPr>
          <p:cNvPr id="3" name="2 CuadroTexto"/>
          <p:cNvSpPr txBox="1"/>
          <p:nvPr/>
        </p:nvSpPr>
        <p:spPr>
          <a:xfrm>
            <a:off x="683568" y="2276872"/>
            <a:ext cx="6912768" cy="646331"/>
          </a:xfrm>
          <a:prstGeom prst="rect">
            <a:avLst/>
          </a:prstGeom>
          <a:noFill/>
        </p:spPr>
        <p:txBody>
          <a:bodyPr wrap="square" rtlCol="0">
            <a:spAutoFit/>
          </a:bodyPr>
          <a:lstStyle/>
          <a:p>
            <a:r>
              <a:rPr lang="es-ES" dirty="0" smtClean="0"/>
              <a:t>PARA QUE SE PUEDA REALIZAR EL DISEÑO ADAPTABLE EXISTE LA ETIQUETA &lt;meta&gt; </a:t>
            </a:r>
            <a:endParaRPr lang="es-ES" dirty="0"/>
          </a:p>
        </p:txBody>
      </p:sp>
    </p:spTree>
    <p:extLst>
      <p:ext uri="{BB962C8B-B14F-4D97-AF65-F5344CB8AC3E}">
        <p14:creationId xmlns:p14="http://schemas.microsoft.com/office/powerpoint/2010/main" val="58063610"/>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0648"/>
            <a:ext cx="8183880" cy="1051560"/>
          </a:xfrm>
        </p:spPr>
        <p:txBody>
          <a:bodyPr>
            <a:normAutofit/>
          </a:bodyPr>
          <a:lstStyle/>
          <a:p>
            <a:r>
              <a:rPr lang="es-ES" dirty="0" smtClean="0"/>
              <a:t>ALGUNOS CONSEJOS </a:t>
            </a:r>
            <a:endParaRPr lang="es-ES" dirty="0"/>
          </a:p>
        </p:txBody>
      </p:sp>
      <p:sp>
        <p:nvSpPr>
          <p:cNvPr id="3" name="2 CuadroTexto"/>
          <p:cNvSpPr txBox="1"/>
          <p:nvPr/>
        </p:nvSpPr>
        <p:spPr>
          <a:xfrm>
            <a:off x="683568" y="1772816"/>
            <a:ext cx="6912768" cy="2585323"/>
          </a:xfrm>
          <a:prstGeom prst="rect">
            <a:avLst/>
          </a:prstGeom>
          <a:noFill/>
        </p:spPr>
        <p:txBody>
          <a:bodyPr wrap="square" rtlCol="0">
            <a:spAutoFit/>
          </a:bodyPr>
          <a:lstStyle/>
          <a:p>
            <a:pPr marL="342900" indent="-342900">
              <a:buFont typeface="+mj-lt"/>
              <a:buAutoNum type="arabicPeriod"/>
            </a:pPr>
            <a:r>
              <a:rPr lang="es-ES" dirty="0" smtClean="0"/>
              <a:t>No utilizar estilos </a:t>
            </a:r>
            <a:r>
              <a:rPr lang="es-ES" b="1" dirty="0" smtClean="0"/>
              <a:t>in-line. </a:t>
            </a:r>
            <a:r>
              <a:rPr lang="es-ES" dirty="0" smtClean="0"/>
              <a:t>Ejemplo: </a:t>
            </a:r>
            <a:r>
              <a:rPr lang="es-ES" b="1" dirty="0" err="1" smtClean="0"/>
              <a:t>align</a:t>
            </a:r>
            <a:r>
              <a:rPr lang="es-ES" b="1" dirty="0" smtClean="0"/>
              <a:t>= center</a:t>
            </a:r>
          </a:p>
          <a:p>
            <a:pPr marL="342900" indent="-342900">
              <a:buFont typeface="+mj-lt"/>
              <a:buAutoNum type="arabicPeriod"/>
            </a:pPr>
            <a:r>
              <a:rPr lang="es-ES" dirty="0" smtClean="0"/>
              <a:t>Las paginas diseñadas no tienen porque tener el mismo diseño en los diferentes dispositivos.</a:t>
            </a:r>
          </a:p>
          <a:p>
            <a:pPr marL="342900" indent="-342900">
              <a:buFont typeface="+mj-lt"/>
              <a:buAutoNum type="arabicPeriod"/>
            </a:pPr>
            <a:r>
              <a:rPr lang="es-ES" dirty="0" smtClean="0"/>
              <a:t>Realizar el diseño para uno o mas plataformas (Firefox, crome, internet </a:t>
            </a:r>
            <a:r>
              <a:rPr lang="es-ES" dirty="0" err="1" smtClean="0"/>
              <a:t>explorer</a:t>
            </a:r>
            <a:r>
              <a:rPr lang="es-ES" dirty="0" smtClean="0"/>
              <a:t>… )</a:t>
            </a:r>
          </a:p>
          <a:p>
            <a:pPr marL="342900" indent="-342900">
              <a:buFont typeface="+mj-lt"/>
              <a:buAutoNum type="arabicPeriod"/>
            </a:pPr>
            <a:r>
              <a:rPr lang="es-ES" dirty="0" smtClean="0"/>
              <a:t>No utilizar tablas. (div) Utilizar etiquetas semánticas y contenedores (&lt;</a:t>
            </a:r>
            <a:r>
              <a:rPr lang="es-ES" dirty="0" err="1" smtClean="0"/>
              <a:t>article</a:t>
            </a:r>
            <a:r>
              <a:rPr lang="es-ES" dirty="0" smtClean="0"/>
              <a:t>&gt;, &lt;</a:t>
            </a:r>
            <a:r>
              <a:rPr lang="es-ES" dirty="0" err="1" smtClean="0"/>
              <a:t>aside</a:t>
            </a:r>
            <a:r>
              <a:rPr lang="es-ES" dirty="0" smtClean="0"/>
              <a:t>&gt;…)</a:t>
            </a:r>
          </a:p>
          <a:p>
            <a:pPr marL="342900" indent="-342900">
              <a:buFont typeface="+mj-lt"/>
              <a:buAutoNum type="arabicPeriod"/>
            </a:pPr>
            <a:r>
              <a:rPr lang="es-ES" dirty="0" smtClean="0"/>
              <a:t>Utilizar unidades relativas </a:t>
            </a:r>
          </a:p>
          <a:p>
            <a:pPr marL="342900" indent="-342900">
              <a:buFont typeface="+mj-lt"/>
              <a:buAutoNum type="arabicPeriod"/>
            </a:pPr>
            <a:endParaRPr lang="es-ES" dirty="0"/>
          </a:p>
        </p:txBody>
      </p:sp>
      <p:sp>
        <p:nvSpPr>
          <p:cNvPr id="6" name="Rectangle 1"/>
          <p:cNvSpPr>
            <a:spLocks noChangeArrowheads="1"/>
          </p:cNvSpPr>
          <p:nvPr/>
        </p:nvSpPr>
        <p:spPr bwMode="auto">
          <a:xfrm>
            <a:off x="1938338" y="493713"/>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s-ES" sz="1800" b="0" i="0" u="none" strike="noStrike" cap="none" normalizeH="0" baseline="0" smtClean="0">
                <a:ln>
                  <a:noFill/>
                </a:ln>
                <a:solidFill>
                  <a:schemeClr val="tx1"/>
                </a:solidFill>
                <a:effectLst/>
                <a:latin typeface="Arial" pitchFamily="34" charset="0"/>
                <a:cs typeface="Arial" pitchFamily="34" charset="0"/>
              </a:rPr>
              <a:t/>
            </a:r>
            <a:br>
              <a:rPr kumimoji="0" lang="es-ES" sz="1800" b="0" i="0" u="none" strike="noStrike" cap="none" normalizeH="0" baseline="0" smtClean="0">
                <a:ln>
                  <a:noFill/>
                </a:ln>
                <a:solidFill>
                  <a:schemeClr val="tx1"/>
                </a:solidFill>
                <a:effectLst/>
                <a:latin typeface="Arial" pitchFamily="34" charset="0"/>
                <a:cs typeface="Arial" pitchFamily="34" charset="0"/>
              </a:rPr>
            </a:br>
            <a:r>
              <a:rPr kumimoji="0" lang="es-ES" sz="1800" b="0" i="0" u="none" strike="noStrike" cap="none" normalizeH="0" baseline="0" smtClean="0">
                <a:ln>
                  <a:noFill/>
                </a:ln>
                <a:solidFill>
                  <a:schemeClr val="tx1"/>
                </a:solidFill>
                <a:effectLst/>
                <a:latin typeface="Arial" pitchFamily="34" charset="0"/>
                <a:cs typeface="Arial" pitchFamily="34" charset="0"/>
              </a:rPr>
              <a:t/>
            </a:r>
            <a:br>
              <a:rPr kumimoji="0" lang="es-ES" sz="1800" b="0" i="0" u="none" strike="noStrike" cap="none" normalizeH="0" baseline="0" smtClean="0">
                <a:ln>
                  <a:noFill/>
                </a:ln>
                <a:solidFill>
                  <a:schemeClr val="tx1"/>
                </a:solidFill>
                <a:effectLst/>
                <a:latin typeface="Arial" pitchFamily="34" charset="0"/>
                <a:cs typeface="Arial" pitchFamily="34" charset="0"/>
              </a:rPr>
            </a:br>
            <a:endParaRPr kumimoji="0" lang="es-E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29850237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Título"/>
          <p:cNvSpPr>
            <a:spLocks noGrp="1"/>
          </p:cNvSpPr>
          <p:nvPr>
            <p:ph type="title"/>
          </p:nvPr>
        </p:nvSpPr>
        <p:spPr>
          <a:xfrm>
            <a:off x="395536" y="260648"/>
            <a:ext cx="8183880" cy="1051560"/>
          </a:xfrm>
        </p:spPr>
        <p:txBody>
          <a:bodyPr/>
          <a:lstStyle/>
          <a:p>
            <a:r>
              <a:rPr lang="es-ES" dirty="0"/>
              <a:t>ALGUNOS CONSEJOS </a:t>
            </a:r>
          </a:p>
        </p:txBody>
      </p:sp>
      <p:graphicFrame>
        <p:nvGraphicFramePr>
          <p:cNvPr id="3" name="2 Tabla"/>
          <p:cNvGraphicFramePr>
            <a:graphicFrameLocks noGrp="1"/>
          </p:cNvGraphicFramePr>
          <p:nvPr>
            <p:extLst>
              <p:ext uri="{D42A27DB-BD31-4B8C-83A1-F6EECF244321}">
                <p14:modId xmlns:p14="http://schemas.microsoft.com/office/powerpoint/2010/main" val="2184115551"/>
              </p:ext>
            </p:extLst>
          </p:nvPr>
        </p:nvGraphicFramePr>
        <p:xfrm>
          <a:off x="1259632" y="1556792"/>
          <a:ext cx="6480720" cy="4701176"/>
        </p:xfrm>
        <a:graphic>
          <a:graphicData uri="http://schemas.openxmlformats.org/drawingml/2006/table">
            <a:tbl>
              <a:tblPr/>
              <a:tblGrid>
                <a:gridCol w="1254333"/>
                <a:gridCol w="5226387"/>
              </a:tblGrid>
              <a:tr h="575489">
                <a:tc>
                  <a:txBody>
                    <a:bodyPr/>
                    <a:lstStyle/>
                    <a:p>
                      <a:r>
                        <a:rPr lang="es-ES" sz="1500" b="1" i="0" dirty="0" smtClean="0">
                          <a:solidFill>
                            <a:srgbClr val="FFFFFF"/>
                          </a:solidFill>
                          <a:effectLst/>
                          <a:latin typeface="LiberationSans-Bold"/>
                        </a:rPr>
                        <a:t>Medida</a:t>
                      </a:r>
                      <a:r>
                        <a:rPr lang="es-ES" sz="1500" b="1" i="0" baseline="0" dirty="0" smtClean="0">
                          <a:solidFill>
                            <a:srgbClr val="FFFFFF"/>
                          </a:solidFill>
                          <a:effectLst/>
                          <a:latin typeface="LiberationSans-Bold"/>
                        </a:rPr>
                        <a:t> relativa</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500" b="1" i="0" dirty="0" smtClean="0">
                          <a:solidFill>
                            <a:srgbClr val="FFFFFF"/>
                          </a:solidFill>
                          <a:effectLst/>
                          <a:latin typeface="LiberationSans-Bold"/>
                        </a:rPr>
                        <a:t>¿Para</a:t>
                      </a:r>
                      <a:r>
                        <a:rPr lang="es-ES" sz="1500" b="1" i="0" baseline="0" dirty="0" smtClean="0">
                          <a:solidFill>
                            <a:srgbClr val="FFFFFF"/>
                          </a:solidFill>
                          <a:effectLst/>
                          <a:latin typeface="LiberationSans-Bold"/>
                        </a:rPr>
                        <a:t> que</a:t>
                      </a:r>
                      <a:r>
                        <a:rPr lang="es-ES" sz="1500" b="1" i="0" dirty="0" smtClean="0">
                          <a:solidFill>
                            <a:srgbClr val="FFFFFF"/>
                          </a:solidFill>
                          <a:effectLst/>
                          <a:latin typeface="LiberationSans-Bold"/>
                        </a:rPr>
                        <a:t>?</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822784">
                <a:tc>
                  <a:txBody>
                    <a:bodyPr/>
                    <a:lstStyle/>
                    <a:p>
                      <a:r>
                        <a:rPr lang="es-ES" sz="1500" b="0" i="0" dirty="0">
                          <a:solidFill>
                            <a:srgbClr val="31849B"/>
                          </a:solidFill>
                          <a:effectLst/>
                          <a:latin typeface="LiberationMono"/>
                        </a:rPr>
                        <a:t>% </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500" b="0" i="0" dirty="0" smtClean="0">
                          <a:solidFill>
                            <a:srgbClr val="31849B"/>
                          </a:solidFill>
                          <a:effectLst/>
                          <a:latin typeface="LiberationSans"/>
                        </a:rPr>
                        <a:t>Se</a:t>
                      </a:r>
                      <a:r>
                        <a:rPr lang="es-ES" sz="1500" b="0" i="0" baseline="0" dirty="0" smtClean="0">
                          <a:solidFill>
                            <a:srgbClr val="31849B"/>
                          </a:solidFill>
                          <a:effectLst/>
                          <a:latin typeface="LiberationSans"/>
                        </a:rPr>
                        <a:t> utiliza para  definir en porcentaje el ancho y alto de cada dispositivo.</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410039">
                <a:tc>
                  <a:txBody>
                    <a:bodyPr/>
                    <a:lstStyle/>
                    <a:p>
                      <a:r>
                        <a:rPr lang="es-ES" sz="1500" b="0" i="0">
                          <a:solidFill>
                            <a:srgbClr val="31849B"/>
                          </a:solidFill>
                          <a:effectLst/>
                          <a:latin typeface="LiberationMono"/>
                        </a:rPr>
                        <a:t>em </a:t>
                      </a:r>
                      <a:endParaRPr lang="es-ES" sz="150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500" b="0" i="0" dirty="0" smtClean="0">
                          <a:solidFill>
                            <a:srgbClr val="31849B"/>
                          </a:solidFill>
                          <a:effectLst/>
                          <a:latin typeface="LiberationSans"/>
                        </a:rPr>
                        <a:t>Se</a:t>
                      </a:r>
                      <a:r>
                        <a:rPr lang="es-ES" sz="1500" b="0" i="0" baseline="0" dirty="0" smtClean="0">
                          <a:solidFill>
                            <a:srgbClr val="31849B"/>
                          </a:solidFill>
                          <a:effectLst/>
                          <a:latin typeface="LiberationSans"/>
                        </a:rPr>
                        <a:t> utiliza para definir el tipo de letra. La </a:t>
                      </a:r>
                      <a:r>
                        <a:rPr lang="es-ES" sz="1500" b="0" i="0" baseline="0" dirty="0" smtClean="0">
                          <a:solidFill>
                            <a:srgbClr val="31849B"/>
                          </a:solidFill>
                          <a:effectLst/>
                          <a:latin typeface="LiberationSans"/>
                        </a:rPr>
                        <a:t>dimensión </a:t>
                      </a:r>
                      <a:r>
                        <a:rPr lang="es-ES" sz="1500" b="0" i="0" baseline="0" dirty="0" smtClean="0">
                          <a:solidFill>
                            <a:srgbClr val="31849B"/>
                          </a:solidFill>
                          <a:effectLst/>
                          <a:latin typeface="LiberationSans"/>
                        </a:rPr>
                        <a:t>de la letra se </a:t>
                      </a:r>
                      <a:r>
                        <a:rPr lang="es-ES" sz="1500" b="0" i="0" baseline="0" dirty="0" smtClean="0">
                          <a:solidFill>
                            <a:srgbClr val="31849B"/>
                          </a:solidFill>
                          <a:effectLst/>
                          <a:latin typeface="LiberationSans"/>
                        </a:rPr>
                        <a:t>adaptara </a:t>
                      </a:r>
                      <a:r>
                        <a:rPr lang="es-ES" sz="1500" b="0" i="0" baseline="0" dirty="0" smtClean="0">
                          <a:solidFill>
                            <a:srgbClr val="31849B"/>
                          </a:solidFill>
                          <a:effectLst/>
                          <a:latin typeface="LiberationSans"/>
                        </a:rPr>
                        <a:t>al dispositivo. </a:t>
                      </a:r>
                      <a:r>
                        <a:rPr lang="es-ES" sz="1500" b="0" i="0" dirty="0" smtClean="0">
                          <a:solidFill>
                            <a:srgbClr val="31849B"/>
                          </a:solidFill>
                          <a:effectLst/>
                          <a:latin typeface="LiberationSans"/>
                        </a:rPr>
                        <a:t>Realizara</a:t>
                      </a:r>
                      <a:r>
                        <a:rPr lang="es-ES" sz="1500" b="0" i="0" baseline="0" dirty="0" smtClean="0">
                          <a:solidFill>
                            <a:srgbClr val="31849B"/>
                          </a:solidFill>
                          <a:effectLst/>
                          <a:latin typeface="LiberationSans"/>
                        </a:rPr>
                        <a:t> un escalado.</a:t>
                      </a:r>
                      <a:r>
                        <a:rPr lang="es-ES" sz="1500" b="0" i="0" dirty="0">
                          <a:solidFill>
                            <a:srgbClr val="31849B"/>
                          </a:solidFill>
                          <a:effectLst/>
                          <a:latin typeface="LiberationSans"/>
                        </a:rPr>
                        <a:t/>
                      </a:r>
                      <a:br>
                        <a:rPr lang="es-ES" sz="1500" b="0" i="0" dirty="0">
                          <a:solidFill>
                            <a:srgbClr val="31849B"/>
                          </a:solidFill>
                          <a:effectLst/>
                          <a:latin typeface="LiberationSans"/>
                        </a:rPr>
                      </a:br>
                      <a:r>
                        <a:rPr lang="es-ES" sz="1500" b="1" i="0" dirty="0" smtClean="0">
                          <a:solidFill>
                            <a:srgbClr val="984806"/>
                          </a:solidFill>
                          <a:effectLst/>
                          <a:latin typeface="LiberationSans-Bold"/>
                        </a:rPr>
                        <a:t>1</a:t>
                      </a:r>
                      <a:r>
                        <a:rPr lang="es-ES" sz="1500" b="1" i="0" dirty="0" smtClean="0">
                          <a:solidFill>
                            <a:srgbClr val="984806"/>
                          </a:solidFill>
                          <a:effectLst/>
                          <a:latin typeface="LiberationMono-Bold"/>
                        </a:rPr>
                        <a:t>em </a:t>
                      </a:r>
                      <a:r>
                        <a:rPr lang="es-ES" sz="1500" b="1" i="0" dirty="0">
                          <a:solidFill>
                            <a:srgbClr val="984806"/>
                          </a:solidFill>
                          <a:effectLst/>
                          <a:latin typeface="LiberationSans-Bold"/>
                        </a:rPr>
                        <a:t>= 12 </a:t>
                      </a:r>
                      <a:r>
                        <a:rPr lang="es-ES" sz="1500" b="1" i="0" dirty="0" smtClean="0">
                          <a:solidFill>
                            <a:srgbClr val="984806"/>
                          </a:solidFill>
                          <a:effectLst/>
                          <a:latin typeface="LiberationSans-Bold"/>
                        </a:rPr>
                        <a:t>puntos</a:t>
                      </a:r>
                      <a:r>
                        <a:rPr lang="es-ES" sz="1500" b="1" i="0" baseline="0" dirty="0" smtClean="0">
                          <a:solidFill>
                            <a:srgbClr val="984806"/>
                          </a:solidFill>
                          <a:effectLst/>
                          <a:latin typeface="LiberationSans-Bold"/>
                        </a:rPr>
                        <a:t> </a:t>
                      </a:r>
                      <a:r>
                        <a:rPr lang="es-ES" sz="1500" b="1" i="0" dirty="0" smtClean="0">
                          <a:solidFill>
                            <a:srgbClr val="984806"/>
                          </a:solidFill>
                          <a:effectLst/>
                          <a:latin typeface="LiberationSans-Bold"/>
                        </a:rPr>
                        <a:t>, </a:t>
                      </a:r>
                      <a:r>
                        <a:rPr lang="es-ES" sz="1500" b="1" i="0" dirty="0">
                          <a:solidFill>
                            <a:srgbClr val="984806"/>
                          </a:solidFill>
                          <a:effectLst/>
                          <a:latin typeface="LiberationSans-Bold"/>
                        </a:rPr>
                        <a:t>2</a:t>
                      </a:r>
                      <a:r>
                        <a:rPr lang="es-ES" sz="1500" b="1" i="0" dirty="0">
                          <a:solidFill>
                            <a:srgbClr val="984806"/>
                          </a:solidFill>
                          <a:effectLst/>
                          <a:latin typeface="LiberationMono-Bold"/>
                        </a:rPr>
                        <a:t>em </a:t>
                      </a:r>
                      <a:r>
                        <a:rPr lang="es-ES" sz="1500" b="1" i="0" dirty="0">
                          <a:solidFill>
                            <a:srgbClr val="984806"/>
                          </a:solidFill>
                          <a:effectLst/>
                          <a:latin typeface="LiberationSans-Bold"/>
                        </a:rPr>
                        <a:t>= </a:t>
                      </a:r>
                      <a:r>
                        <a:rPr lang="es-ES" sz="1500" b="1" i="0" dirty="0" smtClean="0">
                          <a:solidFill>
                            <a:srgbClr val="984806"/>
                          </a:solidFill>
                          <a:effectLst/>
                          <a:latin typeface="LiberationSans-Bold"/>
                        </a:rPr>
                        <a:t>24 puntos</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1317375">
                <a:tc>
                  <a:txBody>
                    <a:bodyPr/>
                    <a:lstStyle/>
                    <a:p>
                      <a:r>
                        <a:rPr lang="es-ES" sz="1500" b="0" i="0" dirty="0">
                          <a:solidFill>
                            <a:srgbClr val="31849B"/>
                          </a:solidFill>
                          <a:effectLst/>
                          <a:latin typeface="LiberationMono"/>
                        </a:rPr>
                        <a:t>rem </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a:spcAft>
                          <a:spcPts val="600"/>
                        </a:spcAft>
                      </a:pPr>
                      <a:r>
                        <a:rPr kumimoji="0" lang="es-ES" sz="1500" b="0" i="0" kern="1200" baseline="0" dirty="0" smtClean="0">
                          <a:solidFill>
                            <a:srgbClr val="31849B"/>
                          </a:solidFill>
                          <a:effectLst/>
                          <a:latin typeface="LiberationSans"/>
                          <a:ea typeface="+mn-ea"/>
                          <a:cs typeface="+mn-cs"/>
                        </a:rPr>
                        <a:t>Funciona como la medida </a:t>
                      </a:r>
                      <a:r>
                        <a:rPr kumimoji="0" lang="es-ES" sz="1500" b="0" i="0" kern="1200" baseline="0" dirty="0" err="1" smtClean="0">
                          <a:solidFill>
                            <a:srgbClr val="31849B"/>
                          </a:solidFill>
                          <a:effectLst/>
                          <a:latin typeface="LiberationSans"/>
                          <a:ea typeface="+mn-ea"/>
                          <a:cs typeface="+mn-cs"/>
                        </a:rPr>
                        <a:t>em</a:t>
                      </a:r>
                      <a:r>
                        <a:rPr kumimoji="0" lang="es-ES" sz="1500" b="0" i="0" kern="1200" baseline="0" dirty="0" smtClean="0">
                          <a:solidFill>
                            <a:srgbClr val="31849B"/>
                          </a:solidFill>
                          <a:effectLst/>
                          <a:latin typeface="LiberationSans"/>
                          <a:ea typeface="+mn-ea"/>
                          <a:cs typeface="+mn-cs"/>
                        </a:rPr>
                        <a:t> </a:t>
                      </a:r>
                      <a:r>
                        <a:rPr kumimoji="0" lang="es-ES_tradnl" sz="1500" b="0" i="0" kern="1200" baseline="0" dirty="0" smtClean="0">
                          <a:solidFill>
                            <a:srgbClr val="31849B"/>
                          </a:solidFill>
                          <a:effectLst/>
                          <a:latin typeface="LiberationSans"/>
                          <a:ea typeface="+mn-ea"/>
                          <a:cs typeface="+mn-cs"/>
                        </a:rPr>
                        <a:t>pero se establece en el elemento principal y es heredado por los elementos dependientes.</a:t>
                      </a:r>
                    </a:p>
                    <a:p>
                      <a:pPr algn="l">
                        <a:spcAft>
                          <a:spcPts val="600"/>
                        </a:spcAft>
                      </a:pPr>
                      <a:r>
                        <a:rPr kumimoji="0" lang="es-ES" sz="1500" b="0" i="0" kern="1200" baseline="0" dirty="0" smtClean="0">
                          <a:solidFill>
                            <a:srgbClr val="31849B"/>
                          </a:solidFill>
                          <a:effectLst/>
                          <a:latin typeface="LiberationSans"/>
                          <a:ea typeface="+mn-ea"/>
                          <a:cs typeface="+mn-cs"/>
                        </a:rPr>
                        <a:t/>
                      </a:r>
                      <a:br>
                        <a:rPr kumimoji="0" lang="es-ES" sz="1500" b="0" i="0" kern="1200" baseline="0" dirty="0" smtClean="0">
                          <a:solidFill>
                            <a:srgbClr val="31849B"/>
                          </a:solidFill>
                          <a:effectLst/>
                          <a:latin typeface="LiberationSans"/>
                          <a:ea typeface="+mn-ea"/>
                          <a:cs typeface="+mn-cs"/>
                        </a:rPr>
                      </a:br>
                      <a:r>
                        <a:rPr kumimoji="0" lang="sq-AL" sz="1500" b="1" i="0" kern="1200" dirty="0" smtClean="0">
                          <a:solidFill>
                            <a:srgbClr val="984806"/>
                          </a:solidFill>
                          <a:effectLst/>
                          <a:latin typeface="LiberationSans-Bold"/>
                          <a:ea typeface="+mn-ea"/>
                          <a:cs typeface="+mn-cs"/>
                        </a:rPr>
                        <a:t>1rem = 16 px</a:t>
                      </a:r>
                      <a:endParaRPr kumimoji="0" lang="es-ES" sz="1500" b="1" i="0" kern="1200" dirty="0" smtClean="0">
                        <a:solidFill>
                          <a:srgbClr val="984806"/>
                        </a:solidFill>
                        <a:effectLst/>
                        <a:latin typeface="LiberationSans-Bold"/>
                        <a:ea typeface="+mn-ea"/>
                        <a:cs typeface="+mn-cs"/>
                      </a:endParaRPr>
                    </a:p>
                  </a:txBody>
                  <a:tcPr marL="89535" marR="89535" marT="0" marB="0">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575489">
                <a:tc>
                  <a:txBody>
                    <a:bodyPr/>
                    <a:lstStyle/>
                    <a:p>
                      <a:r>
                        <a:rPr lang="es-ES" sz="1500" b="0" i="0" dirty="0">
                          <a:solidFill>
                            <a:srgbClr val="31849B"/>
                          </a:solidFill>
                          <a:effectLst/>
                          <a:latin typeface="LiberationMono"/>
                        </a:rPr>
                        <a:t>ex </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500" b="0" i="0" dirty="0" err="1">
                          <a:solidFill>
                            <a:srgbClr val="31849B"/>
                          </a:solidFill>
                          <a:effectLst/>
                          <a:latin typeface="LiberationSans"/>
                        </a:rPr>
                        <a:t>Letraren</a:t>
                      </a:r>
                      <a:r>
                        <a:rPr lang="es-ES" sz="1500" b="0" i="0" dirty="0">
                          <a:solidFill>
                            <a:srgbClr val="31849B"/>
                          </a:solidFill>
                          <a:effectLst/>
                          <a:latin typeface="LiberationSans"/>
                        </a:rPr>
                        <a:t> </a:t>
                      </a:r>
                      <a:r>
                        <a:rPr lang="es-ES" sz="1500" b="0" i="0" dirty="0" err="1">
                          <a:solidFill>
                            <a:srgbClr val="31849B"/>
                          </a:solidFill>
                          <a:effectLst/>
                          <a:latin typeface="LiberationSans"/>
                        </a:rPr>
                        <a:t>altuera</a:t>
                      </a:r>
                      <a:r>
                        <a:rPr lang="es-ES" sz="1500" b="0" i="0" dirty="0">
                          <a:solidFill>
                            <a:srgbClr val="31849B"/>
                          </a:solidFill>
                          <a:effectLst/>
                          <a:latin typeface="LiberationSans"/>
                        </a:rPr>
                        <a:t> </a:t>
                      </a:r>
                      <a:r>
                        <a:rPr lang="es-ES" sz="1500" b="0" i="0" dirty="0" err="1">
                          <a:solidFill>
                            <a:srgbClr val="31849B"/>
                          </a:solidFill>
                          <a:effectLst/>
                          <a:latin typeface="LiberationSans"/>
                        </a:rPr>
                        <a:t>definitzeko</a:t>
                      </a:r>
                      <a:r>
                        <a:rPr lang="es-ES" sz="1500" b="0" i="0" dirty="0">
                          <a:solidFill>
                            <a:srgbClr val="31849B"/>
                          </a:solidFill>
                          <a:effectLst/>
                          <a:latin typeface="LiberationSans"/>
                        </a:rPr>
                        <a:t> </a:t>
                      </a:r>
                      <a:r>
                        <a:rPr lang="es-ES" sz="1500" b="0" i="0" dirty="0" err="1">
                          <a:solidFill>
                            <a:srgbClr val="31849B"/>
                          </a:solidFill>
                          <a:effectLst/>
                          <a:latin typeface="LiberationSans"/>
                        </a:rPr>
                        <a:t>erabiltzen</a:t>
                      </a:r>
                      <a:r>
                        <a:rPr lang="es-ES" sz="1500" b="0" i="0" dirty="0">
                          <a:solidFill>
                            <a:srgbClr val="31849B"/>
                          </a:solidFill>
                          <a:effectLst/>
                          <a:latin typeface="LiberationSans"/>
                        </a:rPr>
                        <a:t> da.</a:t>
                      </a:r>
                      <a:br>
                        <a:rPr lang="es-ES" sz="1500" b="0" i="0" dirty="0">
                          <a:solidFill>
                            <a:srgbClr val="31849B"/>
                          </a:solidFill>
                          <a:effectLst/>
                          <a:latin typeface="LiberationSans"/>
                        </a:rPr>
                      </a:br>
                      <a:r>
                        <a:rPr lang="es-ES" sz="1500" b="1" i="0" dirty="0">
                          <a:solidFill>
                            <a:srgbClr val="984806"/>
                          </a:solidFill>
                          <a:effectLst/>
                          <a:latin typeface="LiberationSans-Bold"/>
                        </a:rPr>
                        <a:t>1</a:t>
                      </a:r>
                      <a:r>
                        <a:rPr lang="es-ES" sz="1500" b="1" i="0" dirty="0">
                          <a:solidFill>
                            <a:srgbClr val="984806"/>
                          </a:solidFill>
                          <a:effectLst/>
                          <a:latin typeface="LiberationMono-Bold"/>
                        </a:rPr>
                        <a:t>ex </a:t>
                      </a:r>
                      <a:r>
                        <a:rPr lang="es-ES" sz="1500" b="1" i="0" dirty="0">
                          <a:solidFill>
                            <a:srgbClr val="984806"/>
                          </a:solidFill>
                          <a:effectLst/>
                          <a:latin typeface="LiberationSans-Bold"/>
                        </a:rPr>
                        <a:t>= letra-tipo </a:t>
                      </a:r>
                      <a:r>
                        <a:rPr lang="es-ES" sz="1500" b="1" i="0" dirty="0" err="1">
                          <a:solidFill>
                            <a:srgbClr val="984806"/>
                          </a:solidFill>
                          <a:effectLst/>
                          <a:latin typeface="LiberationSans-Bold"/>
                        </a:rPr>
                        <a:t>arruntaren</a:t>
                      </a:r>
                      <a:r>
                        <a:rPr lang="es-ES" sz="1500" b="1" i="0" dirty="0">
                          <a:solidFill>
                            <a:srgbClr val="984806"/>
                          </a:solidFill>
                          <a:effectLst/>
                          <a:latin typeface="LiberationSans-Bold"/>
                        </a:rPr>
                        <a:t> </a:t>
                      </a:r>
                      <a:r>
                        <a:rPr lang="es-ES" sz="1500" b="1" i="0" dirty="0" err="1">
                          <a:solidFill>
                            <a:srgbClr val="984806"/>
                          </a:solidFill>
                          <a:effectLst/>
                          <a:latin typeface="LiberationSans-Bold"/>
                        </a:rPr>
                        <a:t>erdia</a:t>
                      </a:r>
                      <a:r>
                        <a:rPr lang="es-ES" sz="1500" b="1" i="0" dirty="0">
                          <a:solidFill>
                            <a:srgbClr val="984806"/>
                          </a:solidFill>
                          <a:effectLst/>
                          <a:latin typeface="LiberationSans-Bold"/>
                        </a:rPr>
                        <a:t> da.</a:t>
                      </a:r>
                      <a:endParaRPr lang="es-ES" sz="1500" dirty="0">
                        <a:effectLst/>
                      </a:endParaRPr>
                    </a:p>
                  </a:txBody>
                  <a:tcPr marL="74783" marR="74783" marT="37391" marB="37391"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5" name="4 CuadroTexto"/>
          <p:cNvSpPr txBox="1"/>
          <p:nvPr/>
        </p:nvSpPr>
        <p:spPr>
          <a:xfrm>
            <a:off x="467544" y="1196752"/>
            <a:ext cx="6912768" cy="646331"/>
          </a:xfrm>
          <a:prstGeom prst="rect">
            <a:avLst/>
          </a:prstGeom>
          <a:noFill/>
        </p:spPr>
        <p:txBody>
          <a:bodyPr wrap="square" rtlCol="0">
            <a:spAutoFit/>
          </a:bodyPr>
          <a:lstStyle/>
          <a:p>
            <a:r>
              <a:rPr lang="es-ES" dirty="0" smtClean="0"/>
              <a:t>Utilizar unidades relativas </a:t>
            </a:r>
          </a:p>
          <a:p>
            <a:pPr marL="342900" indent="-342900">
              <a:buFont typeface="+mj-lt"/>
              <a:buAutoNum type="arabicPeriod"/>
            </a:pPr>
            <a:endParaRPr lang="es-ES" dirty="0"/>
          </a:p>
        </p:txBody>
      </p:sp>
    </p:spTree>
    <p:extLst>
      <p:ext uri="{BB962C8B-B14F-4D97-AF65-F5344CB8AC3E}">
        <p14:creationId xmlns:p14="http://schemas.microsoft.com/office/powerpoint/2010/main" val="298502379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3 Tabla"/>
          <p:cNvGraphicFramePr>
            <a:graphicFrameLocks noGrp="1"/>
          </p:cNvGraphicFramePr>
          <p:nvPr>
            <p:extLst>
              <p:ext uri="{D42A27DB-BD31-4B8C-83A1-F6EECF244321}">
                <p14:modId xmlns:p14="http://schemas.microsoft.com/office/powerpoint/2010/main" val="823172469"/>
              </p:ext>
            </p:extLst>
          </p:nvPr>
        </p:nvGraphicFramePr>
        <p:xfrm>
          <a:off x="1043608" y="3212976"/>
          <a:ext cx="6886575" cy="2011680"/>
        </p:xfrm>
        <a:graphic>
          <a:graphicData uri="http://schemas.openxmlformats.org/drawingml/2006/table">
            <a:tbl>
              <a:tblPr/>
              <a:tblGrid>
                <a:gridCol w="1647825"/>
                <a:gridCol w="5238750"/>
              </a:tblGrid>
              <a:tr h="0">
                <a:tc>
                  <a:txBody>
                    <a:bodyPr/>
                    <a:lstStyle/>
                    <a:p>
                      <a:r>
                        <a:rPr lang="es-ES" sz="1800" b="0" i="0" dirty="0">
                          <a:solidFill>
                            <a:srgbClr val="31849B"/>
                          </a:solidFill>
                          <a:effectLst/>
                          <a:latin typeface="LiberationSerif"/>
                        </a:rPr>
                        <a:t>pt </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800" b="0" i="0" dirty="0" smtClean="0">
                          <a:solidFill>
                            <a:srgbClr val="31849B"/>
                          </a:solidFill>
                          <a:effectLst/>
                          <a:latin typeface="LiberationSerif"/>
                        </a:rPr>
                        <a:t>Se utiliza</a:t>
                      </a:r>
                      <a:r>
                        <a:rPr lang="es-ES" sz="1800" b="0" i="0" baseline="0" dirty="0" smtClean="0">
                          <a:solidFill>
                            <a:srgbClr val="31849B"/>
                          </a:solidFill>
                          <a:effectLst/>
                          <a:latin typeface="LiberationSerif"/>
                        </a:rPr>
                        <a:t> para definir la medida en puntos.</a:t>
                      </a:r>
                      <a:r>
                        <a:rPr lang="es-ES" sz="1800" b="0" i="0" dirty="0">
                          <a:solidFill>
                            <a:srgbClr val="31849B"/>
                          </a:solidFill>
                          <a:effectLst/>
                          <a:latin typeface="LiberationSerif"/>
                        </a:rPr>
                        <a:t/>
                      </a:r>
                      <a:br>
                        <a:rPr lang="es-ES" sz="1800" b="0" i="0" dirty="0">
                          <a:solidFill>
                            <a:srgbClr val="31849B"/>
                          </a:solidFill>
                          <a:effectLst/>
                          <a:latin typeface="LiberationSerif"/>
                        </a:rPr>
                      </a:br>
                      <a:r>
                        <a:rPr lang="es-ES" sz="1800" b="1" i="0" dirty="0">
                          <a:solidFill>
                            <a:srgbClr val="984806"/>
                          </a:solidFill>
                          <a:effectLst/>
                          <a:latin typeface="LiberationSerif-Bold"/>
                        </a:rPr>
                        <a:t>1pt = </a:t>
                      </a:r>
                      <a:r>
                        <a:rPr lang="es-ES" sz="1800" b="1" i="0" dirty="0" smtClean="0">
                          <a:solidFill>
                            <a:srgbClr val="984806"/>
                          </a:solidFill>
                          <a:effectLst/>
                          <a:latin typeface="LiberationSerif-Bold"/>
                        </a:rPr>
                        <a:t>1/72</a:t>
                      </a:r>
                      <a:r>
                        <a:rPr lang="es-ES" sz="1800" b="1" i="0" baseline="0" dirty="0" smtClean="0">
                          <a:solidFill>
                            <a:srgbClr val="984806"/>
                          </a:solidFill>
                          <a:effectLst/>
                          <a:latin typeface="LiberationSerif-Bold"/>
                        </a:rPr>
                        <a:t> pulgadas</a:t>
                      </a:r>
                      <a:r>
                        <a:rPr lang="es-ES" sz="1800" b="1" i="0" dirty="0" smtClean="0">
                          <a:solidFill>
                            <a:srgbClr val="984806"/>
                          </a:solidFill>
                          <a:effectLst/>
                          <a:latin typeface="LiberationSerif-Bold"/>
                        </a:rPr>
                        <a:t>.</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r>
                        <a:rPr lang="es-ES" sz="1800" b="0" i="0" dirty="0" smtClean="0">
                          <a:solidFill>
                            <a:srgbClr val="31849B"/>
                          </a:solidFill>
                          <a:effectLst/>
                          <a:latin typeface="LiberationSerif"/>
                        </a:rPr>
                        <a:t>in</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800" b="0" i="0" dirty="0" smtClean="0">
                          <a:solidFill>
                            <a:srgbClr val="31849B"/>
                          </a:solidFill>
                          <a:effectLst/>
                          <a:latin typeface="LiberationSerif"/>
                        </a:rPr>
                        <a:t>Se utiliza</a:t>
                      </a:r>
                      <a:r>
                        <a:rPr lang="es-ES" sz="1800" b="0" i="0" baseline="0" dirty="0" smtClean="0">
                          <a:solidFill>
                            <a:srgbClr val="31849B"/>
                          </a:solidFill>
                          <a:effectLst/>
                          <a:latin typeface="LiberationSerif"/>
                        </a:rPr>
                        <a:t> para definir la medida en </a:t>
                      </a:r>
                      <a:r>
                        <a:rPr lang="es-ES" sz="1800" b="0" i="0" baseline="0" dirty="0" smtClean="0">
                          <a:solidFill>
                            <a:srgbClr val="31849B"/>
                          </a:solidFill>
                          <a:effectLst/>
                          <a:latin typeface="LiberationSerif"/>
                        </a:rPr>
                        <a:t>pulgadas.</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r>
                        <a:rPr lang="es-ES" sz="1800" b="0" i="0" dirty="0">
                          <a:solidFill>
                            <a:srgbClr val="31849B"/>
                          </a:solidFill>
                          <a:effectLst/>
                          <a:latin typeface="LiberationSerif"/>
                        </a:rPr>
                        <a:t>mm </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r>
                        <a:rPr lang="es-ES" sz="1800" b="0" i="0" dirty="0" smtClean="0">
                          <a:solidFill>
                            <a:srgbClr val="31849B"/>
                          </a:solidFill>
                          <a:effectLst/>
                          <a:latin typeface="LiberationSerif"/>
                        </a:rPr>
                        <a:t>Se utiliza</a:t>
                      </a:r>
                      <a:r>
                        <a:rPr lang="es-ES" sz="1800" b="0" i="0" baseline="0" dirty="0" smtClean="0">
                          <a:solidFill>
                            <a:srgbClr val="31849B"/>
                          </a:solidFill>
                          <a:effectLst/>
                          <a:latin typeface="LiberationSerif"/>
                        </a:rPr>
                        <a:t> para definir la medida en </a:t>
                      </a:r>
                      <a:r>
                        <a:rPr lang="es-ES" sz="1800" b="0" i="0" baseline="0" dirty="0" err="1" smtClean="0">
                          <a:solidFill>
                            <a:srgbClr val="31849B"/>
                          </a:solidFill>
                          <a:effectLst/>
                          <a:latin typeface="LiberationSerif"/>
                        </a:rPr>
                        <a:t>milimetros</a:t>
                      </a:r>
                      <a:r>
                        <a:rPr lang="es-ES" sz="1800" b="0" i="0" baseline="0" dirty="0" smtClean="0">
                          <a:solidFill>
                            <a:srgbClr val="31849B"/>
                          </a:solidFill>
                          <a:effectLst/>
                          <a:latin typeface="LiberationSerif"/>
                        </a:rPr>
                        <a:t>.</a:t>
                      </a:r>
                      <a:endParaRPr lang="it-IT"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r h="0">
                <a:tc>
                  <a:txBody>
                    <a:bodyPr/>
                    <a:lstStyle/>
                    <a:p>
                      <a:r>
                        <a:rPr lang="es-ES" sz="1800" b="0" i="0" dirty="0">
                          <a:solidFill>
                            <a:srgbClr val="31849B"/>
                          </a:solidFill>
                          <a:effectLst/>
                          <a:latin typeface="LiberationSerif"/>
                        </a:rPr>
                        <a:t>pc </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s-ES" sz="1800" b="0" i="0" dirty="0" smtClean="0">
                          <a:solidFill>
                            <a:srgbClr val="31849B"/>
                          </a:solidFill>
                          <a:effectLst/>
                          <a:latin typeface="LiberationSerif"/>
                        </a:rPr>
                        <a:t>Se utiliza</a:t>
                      </a:r>
                      <a:r>
                        <a:rPr lang="es-ES" sz="1800" b="0" i="0" baseline="0" dirty="0" smtClean="0">
                          <a:solidFill>
                            <a:srgbClr val="31849B"/>
                          </a:solidFill>
                          <a:effectLst/>
                          <a:latin typeface="LiberationSerif"/>
                        </a:rPr>
                        <a:t> para definir la medida en picas.</a:t>
                      </a:r>
                      <a:endParaRPr lang="it-IT" dirty="0" smtClean="0">
                        <a:effectLst/>
                      </a:endParaRPr>
                    </a:p>
                    <a:p>
                      <a:r>
                        <a:rPr lang="es-ES" sz="1800" b="1" i="0" dirty="0" smtClean="0">
                          <a:solidFill>
                            <a:srgbClr val="984806"/>
                          </a:solidFill>
                          <a:effectLst/>
                          <a:latin typeface="LiberationSerif-Bold"/>
                        </a:rPr>
                        <a:t>1pc </a:t>
                      </a:r>
                      <a:r>
                        <a:rPr lang="es-ES" sz="1800" b="1" i="0" dirty="0">
                          <a:solidFill>
                            <a:srgbClr val="984806"/>
                          </a:solidFill>
                          <a:effectLst/>
                          <a:latin typeface="LiberationSerif-Bold"/>
                        </a:rPr>
                        <a:t>= 12 </a:t>
                      </a:r>
                      <a:r>
                        <a:rPr lang="es-ES" sz="1800" b="1" i="0" dirty="0" smtClean="0">
                          <a:solidFill>
                            <a:srgbClr val="984806"/>
                          </a:solidFill>
                          <a:effectLst/>
                          <a:latin typeface="LiberationSerif-Bold"/>
                        </a:rPr>
                        <a:t>puntos.</a:t>
                      </a:r>
                      <a:endParaRPr lang="es-ES" dirty="0">
                        <a:effectLst/>
                      </a:endParaRPr>
                    </a:p>
                  </a:txBody>
                  <a:tcPr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r>
            </a:tbl>
          </a:graphicData>
        </a:graphic>
      </p:graphicFrame>
      <p:sp>
        <p:nvSpPr>
          <p:cNvPr id="6" name="1 Título"/>
          <p:cNvSpPr>
            <a:spLocks noGrp="1"/>
          </p:cNvSpPr>
          <p:nvPr>
            <p:ph type="title"/>
          </p:nvPr>
        </p:nvSpPr>
        <p:spPr>
          <a:xfrm>
            <a:off x="395536" y="260648"/>
            <a:ext cx="8183880" cy="1051560"/>
          </a:xfrm>
        </p:spPr>
        <p:txBody>
          <a:bodyPr/>
          <a:lstStyle/>
          <a:p>
            <a:r>
              <a:rPr lang="es-ES" dirty="0"/>
              <a:t>ALGUNOS CONSEJOS </a:t>
            </a:r>
          </a:p>
        </p:txBody>
      </p:sp>
      <p:sp>
        <p:nvSpPr>
          <p:cNvPr id="7" name="6 CuadroTexto"/>
          <p:cNvSpPr txBox="1"/>
          <p:nvPr/>
        </p:nvSpPr>
        <p:spPr>
          <a:xfrm>
            <a:off x="467544" y="1534200"/>
            <a:ext cx="6912768" cy="646331"/>
          </a:xfrm>
          <a:prstGeom prst="rect">
            <a:avLst/>
          </a:prstGeom>
          <a:noFill/>
        </p:spPr>
        <p:txBody>
          <a:bodyPr wrap="square" rtlCol="0">
            <a:spAutoFit/>
          </a:bodyPr>
          <a:lstStyle/>
          <a:p>
            <a:r>
              <a:rPr lang="es-ES" dirty="0" smtClean="0"/>
              <a:t>Utilizar unidades relativas </a:t>
            </a:r>
          </a:p>
          <a:p>
            <a:pPr marL="342900" indent="-342900">
              <a:buFont typeface="+mj-lt"/>
              <a:buAutoNum type="arabicPeriod"/>
            </a:pPr>
            <a:endParaRPr lang="es-ES" dirty="0"/>
          </a:p>
        </p:txBody>
      </p:sp>
    </p:spTree>
    <p:extLst>
      <p:ext uri="{BB962C8B-B14F-4D97-AF65-F5344CB8AC3E}">
        <p14:creationId xmlns:p14="http://schemas.microsoft.com/office/powerpoint/2010/main" val="208526044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1 Título"/>
          <p:cNvSpPr txBox="1">
            <a:spLocks/>
          </p:cNvSpPr>
          <p:nvPr/>
        </p:nvSpPr>
        <p:spPr>
          <a:xfrm>
            <a:off x="395536" y="260648"/>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dirty="0" smtClean="0"/>
              <a:t>OPTIMIZACIÓN DE LAS PAGINAS WEB ADAPTABLES</a:t>
            </a:r>
            <a:endParaRPr lang="es-ES" dirty="0"/>
          </a:p>
        </p:txBody>
      </p:sp>
      <p:sp>
        <p:nvSpPr>
          <p:cNvPr id="5" name="4 CuadroTexto"/>
          <p:cNvSpPr txBox="1"/>
          <p:nvPr/>
        </p:nvSpPr>
        <p:spPr>
          <a:xfrm>
            <a:off x="683568" y="1772816"/>
            <a:ext cx="6912768" cy="2031325"/>
          </a:xfrm>
          <a:prstGeom prst="rect">
            <a:avLst/>
          </a:prstGeom>
          <a:noFill/>
        </p:spPr>
        <p:txBody>
          <a:bodyPr wrap="square" rtlCol="0">
            <a:spAutoFit/>
          </a:bodyPr>
          <a:lstStyle/>
          <a:p>
            <a:r>
              <a:rPr lang="es-ES" dirty="0" smtClean="0"/>
              <a:t>El diseño tiene que ser:</a:t>
            </a:r>
          </a:p>
          <a:p>
            <a:pPr marL="342900" indent="-342900">
              <a:buFont typeface="+mj-lt"/>
              <a:buAutoNum type="arabicPeriod"/>
            </a:pPr>
            <a:r>
              <a:rPr lang="es-ES" dirty="0" smtClean="0"/>
              <a:t>…para que funcione en todos los sistemas y  navegadores.</a:t>
            </a:r>
          </a:p>
          <a:p>
            <a:pPr marL="342900" indent="-342900">
              <a:buFont typeface="+mj-lt"/>
              <a:buAutoNum type="arabicPeriod"/>
            </a:pPr>
            <a:r>
              <a:rPr lang="es-ES" dirty="0" smtClean="0"/>
              <a:t>…adaptable a todas la medidas de pantalla. Media </a:t>
            </a:r>
            <a:r>
              <a:rPr lang="es-ES" dirty="0" err="1" smtClean="0"/>
              <a:t>Queries</a:t>
            </a:r>
            <a:r>
              <a:rPr lang="es-ES" dirty="0" smtClean="0"/>
              <a:t>.</a:t>
            </a:r>
          </a:p>
          <a:p>
            <a:pPr marL="342900" indent="-342900">
              <a:buFont typeface="+mj-lt"/>
              <a:buAutoNum type="arabicPeriod"/>
            </a:pPr>
            <a:r>
              <a:rPr lang="es-ES" dirty="0" smtClean="0"/>
              <a:t>…para todos los tipos de conexión.</a:t>
            </a:r>
          </a:p>
          <a:p>
            <a:endParaRPr lang="es-ES" dirty="0" smtClean="0"/>
          </a:p>
        </p:txBody>
      </p:sp>
    </p:spTree>
    <p:extLst>
      <p:ext uri="{BB962C8B-B14F-4D97-AF65-F5344CB8AC3E}">
        <p14:creationId xmlns:p14="http://schemas.microsoft.com/office/powerpoint/2010/main" val="3765227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0466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dirty="0"/>
              <a:t>PASOS A DAR PARA REALIZAR UNA WEB ADAPTABLE</a:t>
            </a:r>
          </a:p>
        </p:txBody>
      </p:sp>
      <p:sp>
        <p:nvSpPr>
          <p:cNvPr id="5" name="4 CuadroTexto"/>
          <p:cNvSpPr txBox="1"/>
          <p:nvPr/>
        </p:nvSpPr>
        <p:spPr>
          <a:xfrm>
            <a:off x="683568" y="2178730"/>
            <a:ext cx="6912768" cy="2031325"/>
          </a:xfrm>
          <a:prstGeom prst="rect">
            <a:avLst/>
          </a:prstGeom>
          <a:noFill/>
        </p:spPr>
        <p:txBody>
          <a:bodyPr wrap="square" rtlCol="0">
            <a:spAutoFit/>
          </a:bodyPr>
          <a:lstStyle/>
          <a:p>
            <a:pPr marL="342900" indent="-342900">
              <a:buFont typeface="+mj-lt"/>
              <a:buAutoNum type="arabicPeriod"/>
            </a:pPr>
            <a:r>
              <a:rPr lang="es-ES" dirty="0" smtClean="0"/>
              <a:t>Generar el HTLM con los elementos a visualizar.</a:t>
            </a:r>
          </a:p>
          <a:p>
            <a:pPr marL="342900" indent="-342900">
              <a:buFont typeface="+mj-lt"/>
              <a:buAutoNum type="arabicPeriod"/>
            </a:pPr>
            <a:r>
              <a:rPr lang="es-ES" dirty="0" smtClean="0"/>
              <a:t>Establecer estilos CSS</a:t>
            </a:r>
          </a:p>
          <a:p>
            <a:endParaRPr lang="es-ES" dirty="0" smtClean="0"/>
          </a:p>
          <a:p>
            <a:pPr marL="800100" lvl="1" indent="-342900">
              <a:buFont typeface="+mj-lt"/>
              <a:buAutoNum type="arabicPeriod"/>
            </a:pPr>
            <a:r>
              <a:rPr lang="es-ES" dirty="0" smtClean="0"/>
              <a:t>Recursos del diseño estético. </a:t>
            </a:r>
          </a:p>
          <a:p>
            <a:pPr marL="800100" lvl="1" indent="-342900">
              <a:buFont typeface="+mj-lt"/>
              <a:buAutoNum type="arabicPeriod"/>
            </a:pPr>
            <a:r>
              <a:rPr lang="es-ES" dirty="0" smtClean="0"/>
              <a:t>Diseño LAY OUT.</a:t>
            </a:r>
          </a:p>
          <a:p>
            <a:pPr marL="342900" indent="-342900">
              <a:buFont typeface="+mj-lt"/>
              <a:buAutoNum type="arabicPeriod"/>
            </a:pPr>
            <a:endParaRPr lang="es-ES" dirty="0" smtClean="0"/>
          </a:p>
          <a:p>
            <a:pPr marL="342900" indent="-342900">
              <a:buFont typeface="+mj-lt"/>
              <a:buAutoNum type="arabicPeriod"/>
            </a:pPr>
            <a:endParaRPr lang="es-ES" dirty="0" smtClean="0"/>
          </a:p>
        </p:txBody>
      </p:sp>
    </p:spTree>
    <p:extLst>
      <p:ext uri="{BB962C8B-B14F-4D97-AF65-F5344CB8AC3E}">
        <p14:creationId xmlns:p14="http://schemas.microsoft.com/office/powerpoint/2010/main" val="425520180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5078313"/>
          </a:xfrm>
          <a:prstGeom prst="rect">
            <a:avLst/>
          </a:prstGeom>
          <a:noFill/>
        </p:spPr>
        <p:txBody>
          <a:bodyPr wrap="square" rtlCol="0">
            <a:spAutoFit/>
          </a:bodyPr>
          <a:lstStyle/>
          <a:p>
            <a:r>
              <a:rPr lang="es-ES" dirty="0" smtClean="0"/>
              <a:t>Los módulos media </a:t>
            </a:r>
            <a:r>
              <a:rPr lang="es-ES" dirty="0" err="1" smtClean="0"/>
              <a:t>queries</a:t>
            </a:r>
            <a:r>
              <a:rPr lang="es-ES" dirty="0" smtClean="0"/>
              <a:t> son las reglas de  CSS3 para que el contenido de la web se adapte al tamaño de las dispositivos. </a:t>
            </a:r>
          </a:p>
          <a:p>
            <a:pPr marL="342900" lvl="0" indent="-342900">
              <a:buFont typeface="+mj-lt"/>
              <a:buAutoNum type="arabicPeriod"/>
            </a:pPr>
            <a:r>
              <a:rPr lang="es-ES" dirty="0" smtClean="0"/>
              <a:t>Dentro de la etiqueta </a:t>
            </a:r>
            <a:r>
              <a:rPr lang="sq-AL" dirty="0" smtClean="0"/>
              <a:t>&lt;style&gt;</a:t>
            </a:r>
            <a:r>
              <a:rPr lang="es-ES" dirty="0" smtClean="0"/>
              <a:t> de</a:t>
            </a:r>
            <a:r>
              <a:rPr lang="sq-AL" dirty="0" smtClean="0"/>
              <a:t> HTML</a:t>
            </a:r>
            <a:r>
              <a:rPr lang="es-ES" dirty="0" smtClean="0"/>
              <a:t>. </a:t>
            </a:r>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r>
              <a:rPr lang="es-ES" dirty="0" smtClean="0"/>
              <a:t>Dentro del CSS</a:t>
            </a:r>
          </a:p>
          <a:p>
            <a:pPr marL="342900" lvl="0" indent="-342900">
              <a:buFont typeface="+mj-lt"/>
              <a:buAutoNum type="arabicPeriod"/>
            </a:pPr>
            <a:r>
              <a:rPr lang="es-ES" dirty="0" smtClean="0"/>
              <a:t>Dentro dela etiqueta &lt;head&gt; del HTML.</a:t>
            </a:r>
          </a:p>
          <a:p>
            <a:pPr lvl="0"/>
            <a:endParaRPr lang="es-ES" dirty="0" smtClean="0"/>
          </a:p>
          <a:p>
            <a:pPr lvl="0"/>
            <a:endParaRPr lang="es-ES" dirty="0" smtClean="0"/>
          </a:p>
          <a:p>
            <a:pPr marL="342900" indent="-342900">
              <a:buFont typeface="+mj-lt"/>
              <a:buAutoNum type="arabicPeriod"/>
            </a:pPr>
            <a:endParaRPr lang="es-ES" dirty="0" smtClean="0"/>
          </a:p>
          <a:p>
            <a:pPr marL="342900" indent="-342900">
              <a:buFont typeface="+mj-lt"/>
              <a:buAutoNum type="arabicPeriod"/>
            </a:pPr>
            <a:endParaRPr lang="es-ES" dirty="0" smtClean="0"/>
          </a:p>
        </p:txBody>
      </p:sp>
      <p:sp>
        <p:nvSpPr>
          <p:cNvPr id="9" name="Testu-koadroa 485"/>
          <p:cNvSpPr txBox="1"/>
          <p:nvPr/>
        </p:nvSpPr>
        <p:spPr>
          <a:xfrm>
            <a:off x="1115616" y="2782962"/>
            <a:ext cx="6480720" cy="2220633"/>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0980">
              <a:spcAft>
                <a:spcPts val="0"/>
              </a:spcAft>
              <a:tabLst>
                <a:tab pos="270510" algn="l"/>
              </a:tabLst>
            </a:pPr>
            <a:r>
              <a:rPr lang="eu-ES" sz="1600" b="1" dirty="0">
                <a:solidFill>
                  <a:srgbClr val="000000"/>
                </a:solidFill>
                <a:effectLst/>
                <a:latin typeface="Courier New"/>
                <a:ea typeface="Times New Roman"/>
              </a:rPr>
              <a:t>&lt;</a:t>
            </a:r>
            <a:r>
              <a:rPr lang="eu-ES" sz="1600" b="1" dirty="0" err="1">
                <a:solidFill>
                  <a:srgbClr val="000000"/>
                </a:solidFill>
                <a:effectLst/>
                <a:latin typeface="Courier New"/>
                <a:ea typeface="Times New Roman"/>
              </a:rPr>
              <a:t>style</a:t>
            </a:r>
            <a:r>
              <a:rPr lang="eu-ES" sz="1600" b="1" dirty="0">
                <a:solidFill>
                  <a:srgbClr val="000000"/>
                </a:solidFill>
                <a:effectLst/>
                <a:latin typeface="Courier New"/>
                <a:ea typeface="Times New Roman"/>
              </a:rPr>
              <a:t>&gt;</a:t>
            </a:r>
            <a:endParaRPr lang="es-ES" sz="2400" dirty="0">
              <a:effectLst/>
              <a:latin typeface="Times New Roman"/>
              <a:ea typeface="Times New Roman"/>
            </a:endParaRPr>
          </a:p>
          <a:p>
            <a:pPr marL="449580">
              <a:spcAft>
                <a:spcPts val="0"/>
              </a:spcAft>
              <a:tabLst>
                <a:tab pos="270510" algn="l"/>
              </a:tabLst>
            </a:pPr>
            <a:r>
              <a:rPr lang="eu-ES" sz="1600" b="1" dirty="0">
                <a:solidFill>
                  <a:srgbClr val="244061"/>
                </a:solidFill>
                <a:effectLst/>
                <a:latin typeface="Courier New"/>
                <a:ea typeface="Times New Roman"/>
              </a:rPr>
              <a:t>@media </a:t>
            </a:r>
            <a:r>
              <a:rPr lang="eu-ES" sz="1600" b="1" dirty="0" err="1">
                <a:solidFill>
                  <a:srgbClr val="244061"/>
                </a:solidFill>
                <a:effectLst/>
                <a:latin typeface="Courier New"/>
                <a:ea typeface="Times New Roman"/>
              </a:rPr>
              <a:t>screen</a:t>
            </a:r>
            <a:r>
              <a:rPr lang="eu-ES" sz="1600" b="1" dirty="0">
                <a:solidFill>
                  <a:srgbClr val="244061"/>
                </a:solidFill>
                <a:effectLst/>
                <a:latin typeface="Courier New"/>
                <a:ea typeface="Times New Roman"/>
              </a:rPr>
              <a:t> and (max-width:500</a:t>
            </a:r>
            <a:r>
              <a:rPr lang="eu-ES" sz="1600" b="1" dirty="0" err="1">
                <a:solidFill>
                  <a:srgbClr val="244061"/>
                </a:solidFill>
                <a:effectLst/>
                <a:latin typeface="Courier New"/>
                <a:ea typeface="Times New Roman"/>
              </a:rPr>
              <a:t>px){  </a:t>
            </a:r>
            <a:endParaRPr lang="es-ES" sz="2400" dirty="0">
              <a:effectLst/>
              <a:latin typeface="Times New Roman"/>
              <a:ea typeface="Times New Roman"/>
            </a:endParaRPr>
          </a:p>
          <a:p>
            <a:pPr marL="899160">
              <a:spcAft>
                <a:spcPts val="0"/>
              </a:spcAft>
              <a:tabLst>
                <a:tab pos="270510" algn="l"/>
              </a:tabLst>
            </a:pPr>
            <a:r>
              <a:rPr lang="eu-ES" sz="1600" b="1" dirty="0" err="1">
                <a:solidFill>
                  <a:srgbClr val="000000"/>
                </a:solidFill>
                <a:effectLst/>
                <a:latin typeface="Courier New"/>
                <a:ea typeface="Times New Roman"/>
              </a:rPr>
              <a:t>header</a:t>
            </a:r>
            <a:r>
              <a:rPr lang="eu-ES" sz="1600" b="1" dirty="0">
                <a:solidFill>
                  <a:srgbClr val="000000"/>
                </a:solidFill>
                <a:effectLst/>
                <a:latin typeface="Courier New"/>
                <a:ea typeface="Times New Roman"/>
              </a:rPr>
              <a:t>, </a:t>
            </a:r>
            <a:r>
              <a:rPr lang="eu-ES" sz="1600" b="1" dirty="0" err="1">
                <a:solidFill>
                  <a:srgbClr val="000000"/>
                </a:solidFill>
                <a:effectLst/>
                <a:latin typeface="Courier New"/>
                <a:ea typeface="Times New Roman"/>
              </a:rPr>
              <a:t>nav</a:t>
            </a:r>
            <a:r>
              <a:rPr lang="eu-ES" sz="1600" b="1" dirty="0">
                <a:solidFill>
                  <a:srgbClr val="000000"/>
                </a:solidFill>
                <a:effectLst/>
                <a:latin typeface="Courier New"/>
                <a:ea typeface="Times New Roman"/>
              </a:rPr>
              <a:t>, </a:t>
            </a:r>
            <a:r>
              <a:rPr lang="eu-ES" sz="1600" b="1" dirty="0" err="1">
                <a:solidFill>
                  <a:srgbClr val="000000"/>
                </a:solidFill>
                <a:effectLst/>
                <a:latin typeface="Courier New"/>
                <a:ea typeface="Times New Roman"/>
              </a:rPr>
              <a:t>footer</a:t>
            </a:r>
            <a:r>
              <a:rPr lang="eu-ES" sz="1600" b="1" dirty="0">
                <a:solidFill>
                  <a:srgbClr val="000000"/>
                </a:solidFill>
                <a:effectLst/>
                <a:latin typeface="Courier New"/>
                <a:ea typeface="Times New Roman"/>
              </a:rPr>
              <a:t> {</a:t>
            </a:r>
            <a:endParaRPr lang="es-ES" sz="2400" dirty="0">
              <a:effectLst/>
              <a:latin typeface="Times New Roman"/>
              <a:ea typeface="Times New Roman"/>
            </a:endParaRPr>
          </a:p>
          <a:p>
            <a:pPr marL="899160">
              <a:spcAft>
                <a:spcPts val="0"/>
              </a:spcAft>
              <a:tabLst>
                <a:tab pos="270510" algn="l"/>
              </a:tabLst>
            </a:pPr>
            <a:r>
              <a:rPr lang="eu-ES" sz="1600" b="1" dirty="0">
                <a:solidFill>
                  <a:srgbClr val="000000"/>
                </a:solidFill>
                <a:effectLst/>
                <a:latin typeface="Courier New"/>
                <a:ea typeface="Times New Roman"/>
              </a:rPr>
              <a:t>	</a:t>
            </a:r>
            <a:r>
              <a:rPr lang="eu-ES" sz="1600" b="1" dirty="0" err="1">
                <a:solidFill>
                  <a:srgbClr val="984806"/>
                </a:solidFill>
                <a:effectLst/>
                <a:latin typeface="Courier New"/>
                <a:ea typeface="Times New Roman"/>
              </a:rPr>
              <a:t>height</a:t>
            </a:r>
            <a:r>
              <a:rPr lang="eu-ES" sz="1600" b="1" dirty="0">
                <a:solidFill>
                  <a:srgbClr val="984806"/>
                </a:solidFill>
                <a:effectLst/>
                <a:latin typeface="Courier New"/>
                <a:ea typeface="Times New Roman"/>
              </a:rPr>
              <a:t>: 50px;</a:t>
            </a:r>
            <a:endParaRPr lang="es-ES" sz="2400" dirty="0">
              <a:effectLst/>
              <a:latin typeface="Times New Roman"/>
              <a:ea typeface="Times New Roman"/>
            </a:endParaRPr>
          </a:p>
          <a:p>
            <a:pPr marL="899160">
              <a:spcAft>
                <a:spcPts val="0"/>
              </a:spcAft>
              <a:tabLst>
                <a:tab pos="270510" algn="l"/>
              </a:tabLst>
            </a:pPr>
            <a:r>
              <a:rPr lang="eu-ES" sz="1600" b="1" dirty="0">
                <a:solidFill>
                  <a:srgbClr val="984806"/>
                </a:solidFill>
                <a:effectLst/>
                <a:latin typeface="Courier New"/>
                <a:ea typeface="Times New Roman"/>
              </a:rPr>
              <a:t>	</a:t>
            </a:r>
            <a:r>
              <a:rPr lang="eu-ES" sz="1600" b="1" dirty="0" err="1">
                <a:solidFill>
                  <a:srgbClr val="984806"/>
                </a:solidFill>
                <a:effectLst/>
                <a:latin typeface="Courier New"/>
                <a:ea typeface="Times New Roman"/>
              </a:rPr>
              <a:t>width</a:t>
            </a:r>
            <a:r>
              <a:rPr lang="eu-ES" sz="1600" b="1" dirty="0">
                <a:solidFill>
                  <a:srgbClr val="984806"/>
                </a:solidFill>
                <a:effectLst/>
                <a:latin typeface="Courier New"/>
                <a:ea typeface="Times New Roman"/>
              </a:rPr>
              <a:t>: 100%;</a:t>
            </a:r>
            <a:endParaRPr lang="es-ES" sz="2400" dirty="0">
              <a:effectLst/>
              <a:latin typeface="Times New Roman"/>
              <a:ea typeface="Times New Roman"/>
            </a:endParaRPr>
          </a:p>
          <a:p>
            <a:pPr marL="899160">
              <a:spcAft>
                <a:spcPts val="0"/>
              </a:spcAft>
              <a:tabLst>
                <a:tab pos="270510" algn="l"/>
              </a:tabLst>
            </a:pPr>
            <a:r>
              <a:rPr lang="eu-ES" sz="1600" b="1" dirty="0">
                <a:solidFill>
                  <a:srgbClr val="000000"/>
                </a:solidFill>
                <a:effectLst/>
                <a:latin typeface="Courier New"/>
                <a:ea typeface="Times New Roman"/>
              </a:rPr>
              <a:t>}</a:t>
            </a:r>
            <a:endParaRPr lang="es-ES" sz="2400" dirty="0">
              <a:effectLst/>
              <a:latin typeface="Times New Roman"/>
              <a:ea typeface="Times New Roman"/>
            </a:endParaRPr>
          </a:p>
          <a:p>
            <a:pPr marL="449580">
              <a:spcAft>
                <a:spcPts val="0"/>
              </a:spcAft>
              <a:tabLst>
                <a:tab pos="270510" algn="l"/>
              </a:tabLst>
            </a:pPr>
            <a:r>
              <a:rPr lang="eu-ES" sz="1600" b="1" dirty="0">
                <a:solidFill>
                  <a:srgbClr val="244061"/>
                </a:solidFill>
                <a:effectLst/>
                <a:latin typeface="Courier New"/>
                <a:ea typeface="Times New Roman"/>
              </a:rPr>
              <a:t>}</a:t>
            </a:r>
            <a:endParaRPr lang="es-ES" sz="2400" dirty="0">
              <a:effectLst/>
              <a:latin typeface="Times New Roman"/>
              <a:ea typeface="Times New Roman"/>
            </a:endParaRPr>
          </a:p>
          <a:p>
            <a:pPr marL="220980">
              <a:spcAft>
                <a:spcPts val="0"/>
              </a:spcAft>
              <a:tabLst>
                <a:tab pos="270510" algn="l"/>
              </a:tabLst>
            </a:pPr>
            <a:r>
              <a:rPr lang="eu-ES" sz="1600" b="1" dirty="0">
                <a:solidFill>
                  <a:srgbClr val="000000"/>
                </a:solidFill>
                <a:effectLst/>
                <a:latin typeface="Courier New"/>
                <a:ea typeface="Times New Roman"/>
              </a:rPr>
              <a:t>&lt;/</a:t>
            </a:r>
            <a:r>
              <a:rPr lang="eu-ES" sz="1600" b="1" dirty="0" err="1">
                <a:solidFill>
                  <a:srgbClr val="000000"/>
                </a:solidFill>
                <a:effectLst/>
                <a:latin typeface="Courier New"/>
                <a:ea typeface="Times New Roman"/>
              </a:rPr>
              <a:t>style</a:t>
            </a:r>
            <a:r>
              <a:rPr lang="eu-ES" sz="1600" b="1" dirty="0">
                <a:solidFill>
                  <a:srgbClr val="000000"/>
                </a:solidFill>
                <a:effectLst/>
                <a:latin typeface="Courier New"/>
                <a:ea typeface="Times New Roman"/>
              </a:rPr>
              <a:t>&gt;</a:t>
            </a:r>
            <a:endParaRPr lang="es-ES" sz="2400"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425520180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7017306"/>
          </a:xfrm>
          <a:prstGeom prst="rect">
            <a:avLst/>
          </a:prstGeom>
          <a:noFill/>
        </p:spPr>
        <p:txBody>
          <a:bodyPr wrap="square" rtlCol="0">
            <a:spAutoFit/>
          </a:bodyPr>
          <a:lstStyle/>
          <a:p>
            <a:r>
              <a:rPr lang="es-ES" dirty="0" smtClean="0"/>
              <a:t>Los módulos media </a:t>
            </a:r>
            <a:r>
              <a:rPr lang="es-ES" dirty="0" err="1" smtClean="0"/>
              <a:t>queries</a:t>
            </a:r>
            <a:r>
              <a:rPr lang="es-ES" dirty="0" smtClean="0"/>
              <a:t> son las reglas de  CSS3 para que el contenido de la web se adapte al tamaño de las dispositivos. </a:t>
            </a:r>
          </a:p>
          <a:p>
            <a:pPr marL="342900" lvl="0" indent="-342900">
              <a:buFont typeface="+mj-lt"/>
              <a:buAutoNum type="arabicPeriod"/>
            </a:pPr>
            <a:r>
              <a:rPr lang="es-ES" dirty="0" smtClean="0"/>
              <a:t>Dentro de la etiqueta </a:t>
            </a:r>
            <a:r>
              <a:rPr lang="sq-AL" dirty="0" smtClean="0"/>
              <a:t>&lt;style&gt;</a:t>
            </a:r>
            <a:r>
              <a:rPr lang="es-ES" dirty="0" smtClean="0"/>
              <a:t> de</a:t>
            </a:r>
            <a:r>
              <a:rPr lang="sq-AL" dirty="0" smtClean="0"/>
              <a:t> HTML</a:t>
            </a:r>
            <a:r>
              <a:rPr lang="es-ES" dirty="0" smtClean="0"/>
              <a:t>. </a:t>
            </a:r>
          </a:p>
          <a:p>
            <a:pPr marL="342900" lvl="0" indent="-342900">
              <a:buFont typeface="+mj-lt"/>
              <a:buAutoNum type="arabicPeriod"/>
            </a:pPr>
            <a:r>
              <a:rPr lang="es-ES" dirty="0"/>
              <a:t>Dentro </a:t>
            </a:r>
            <a:r>
              <a:rPr lang="es-ES" dirty="0" smtClean="0"/>
              <a:t>del CSS. </a:t>
            </a:r>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800100" lvl="1" indent="-342900">
              <a:buFont typeface="Arial" pitchFamily="34" charset="0"/>
              <a:buChar char="•"/>
            </a:pPr>
            <a:r>
              <a:rPr lang="es-ES" dirty="0" smtClean="0"/>
              <a:t>Se escribirá la norma @media dentro del </a:t>
            </a:r>
            <a:r>
              <a:rPr lang="es-ES" dirty="0" err="1" smtClean="0"/>
              <a:t>css</a:t>
            </a:r>
            <a:endParaRPr lang="es-ES" dirty="0" smtClean="0"/>
          </a:p>
          <a:p>
            <a:pPr marL="342900" indent="-342900">
              <a:buFont typeface="+mj-lt"/>
              <a:buAutoNum type="arabicPeriod"/>
            </a:pPr>
            <a:endParaRPr lang="es-ES" dirty="0" smtClean="0"/>
          </a:p>
          <a:p>
            <a:pPr marL="342900" indent="-342900">
              <a:buFont typeface="+mj-lt"/>
              <a:buAutoNum type="arabicPeriod"/>
            </a:pPr>
            <a:endParaRPr lang="es-ES" dirty="0"/>
          </a:p>
          <a:p>
            <a:pPr marL="342900" indent="-342900">
              <a:buFont typeface="+mj-lt"/>
              <a:buAutoNum type="arabicPeriod"/>
            </a:pPr>
            <a:endParaRPr lang="es-ES" dirty="0" smtClean="0"/>
          </a:p>
          <a:p>
            <a:pPr marL="342900" indent="-342900">
              <a:buFont typeface="+mj-lt"/>
              <a:buAutoNum type="arabicPeriod"/>
            </a:pPr>
            <a:endParaRPr lang="es-ES" dirty="0"/>
          </a:p>
          <a:p>
            <a:pPr marL="342900" indent="-342900">
              <a:buFont typeface="+mj-lt"/>
              <a:buAutoNum type="arabicPeriod"/>
            </a:pPr>
            <a:endParaRPr lang="es-ES" dirty="0" smtClean="0"/>
          </a:p>
          <a:p>
            <a:pPr marL="342900" indent="-342900">
              <a:buFont typeface="+mj-lt"/>
              <a:buAutoNum type="arabicPeriod"/>
            </a:pPr>
            <a:r>
              <a:rPr lang="es-ES" dirty="0" smtClean="0"/>
              <a:t>Dentro </a:t>
            </a:r>
            <a:r>
              <a:rPr lang="es-ES" dirty="0"/>
              <a:t>dela etiqueta &lt;head&gt; del HTML.</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6" name="Testu-koadroa 484"/>
          <p:cNvSpPr txBox="1"/>
          <p:nvPr/>
        </p:nvSpPr>
        <p:spPr>
          <a:xfrm>
            <a:off x="971600" y="3132773"/>
            <a:ext cx="5760640" cy="944299"/>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marL="449580">
              <a:spcAft>
                <a:spcPts val="0"/>
              </a:spcAft>
              <a:tabLst>
                <a:tab pos="270510" algn="l"/>
              </a:tabLst>
            </a:pPr>
            <a:r>
              <a:rPr lang="eu-ES" sz="1000" b="1" dirty="0">
                <a:solidFill>
                  <a:srgbClr val="244061"/>
                </a:solidFill>
                <a:effectLst/>
                <a:latin typeface="Courier New"/>
                <a:ea typeface="Times New Roman"/>
              </a:rPr>
              <a:t>&lt;</a:t>
            </a:r>
            <a:r>
              <a:rPr lang="eu-ES" sz="1000" b="1" dirty="0" err="1">
                <a:solidFill>
                  <a:srgbClr val="244061"/>
                </a:solidFill>
                <a:effectLst/>
                <a:latin typeface="Courier New"/>
                <a:ea typeface="Times New Roman"/>
              </a:rPr>
              <a:t>link</a:t>
            </a:r>
            <a:r>
              <a:rPr lang="eu-ES" sz="1000" b="1" dirty="0">
                <a:solidFill>
                  <a:srgbClr val="244061"/>
                </a:solidFill>
                <a:effectLst/>
                <a:latin typeface="Courier New"/>
                <a:ea typeface="Times New Roman"/>
              </a:rPr>
              <a:t> </a:t>
            </a:r>
            <a:r>
              <a:rPr lang="eu-ES" sz="1000" b="1" dirty="0" err="1">
                <a:solidFill>
                  <a:srgbClr val="244061"/>
                </a:solidFill>
                <a:effectLst/>
                <a:latin typeface="Courier New"/>
                <a:ea typeface="Times New Roman"/>
              </a:rPr>
              <a:t>rel</a:t>
            </a:r>
            <a:r>
              <a:rPr lang="eu-ES" sz="1000" b="1" dirty="0">
                <a:solidFill>
                  <a:srgbClr val="244061"/>
                </a:solidFill>
                <a:effectLst/>
                <a:latin typeface="Courier New"/>
                <a:ea typeface="Times New Roman"/>
              </a:rPr>
              <a:t>="</a:t>
            </a:r>
            <a:r>
              <a:rPr lang="eu-ES" sz="1000" b="1" dirty="0" err="1">
                <a:solidFill>
                  <a:srgbClr val="244061"/>
                </a:solidFill>
                <a:effectLst/>
                <a:latin typeface="Courier New"/>
                <a:ea typeface="Times New Roman"/>
              </a:rPr>
              <a:t>stylesheet</a:t>
            </a:r>
            <a:r>
              <a:rPr lang="eu-ES" sz="1000" b="1" dirty="0">
                <a:solidFill>
                  <a:srgbClr val="244061"/>
                </a:solidFill>
                <a:effectLst/>
                <a:latin typeface="Courier New"/>
                <a:ea typeface="Times New Roman"/>
              </a:rPr>
              <a:t>" </a:t>
            </a:r>
            <a:r>
              <a:rPr lang="eu-ES" sz="1000" b="1" dirty="0" err="1">
                <a:solidFill>
                  <a:srgbClr val="244061"/>
                </a:solidFill>
                <a:effectLst/>
                <a:latin typeface="Courier New"/>
                <a:ea typeface="Times New Roman"/>
              </a:rPr>
              <a:t>href</a:t>
            </a:r>
            <a:r>
              <a:rPr lang="eu-ES" sz="1000" b="1" dirty="0">
                <a:solidFill>
                  <a:srgbClr val="244061"/>
                </a:solidFill>
                <a:effectLst/>
                <a:latin typeface="Courier New"/>
                <a:ea typeface="Times New Roman"/>
              </a:rPr>
              <a:t>="</a:t>
            </a:r>
            <a:r>
              <a:rPr lang="eu-ES" sz="1000" b="1" dirty="0" err="1">
                <a:solidFill>
                  <a:srgbClr val="244061"/>
                </a:solidFill>
                <a:effectLst/>
                <a:latin typeface="Courier New"/>
                <a:ea typeface="Times New Roman"/>
              </a:rPr>
              <a:t>css/estiloa.css</a:t>
            </a:r>
            <a:r>
              <a:rPr lang="eu-ES" sz="1000" b="1" dirty="0">
                <a:solidFill>
                  <a:srgbClr val="244061"/>
                </a:solidFill>
                <a:effectLst/>
                <a:latin typeface="Courier New"/>
                <a:ea typeface="Times New Roman"/>
              </a:rPr>
              <a:t>" /&gt;</a:t>
            </a:r>
            <a:endParaRPr lang="es-ES" sz="1200" dirty="0">
              <a:effectLst/>
              <a:latin typeface="Times New Roman"/>
              <a:ea typeface="Times New Roman"/>
            </a:endParaRPr>
          </a:p>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marL="220980">
              <a:spcAft>
                <a:spcPts val="0"/>
              </a:spcAft>
              <a:tabLst>
                <a:tab pos="270510" algn="l"/>
              </a:tabLst>
            </a:pPr>
            <a:r>
              <a:rPr lang="eu-ES" sz="1200" b="1" dirty="0">
                <a:solidFill>
                  <a:srgbClr val="244061"/>
                </a:solidFill>
                <a:effectLst/>
                <a:latin typeface="Courier New"/>
                <a:ea typeface="Times New Roman"/>
              </a:rPr>
              <a:t> </a:t>
            </a:r>
            <a:endParaRPr lang="es-ES" sz="1200"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
        <p:nvSpPr>
          <p:cNvPr id="8" name="Testu-koadroa 483"/>
          <p:cNvSpPr txBox="1"/>
          <p:nvPr/>
        </p:nvSpPr>
        <p:spPr>
          <a:xfrm>
            <a:off x="1698059" y="4725143"/>
            <a:ext cx="4883785" cy="948055"/>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449580">
              <a:spcAft>
                <a:spcPts val="0"/>
              </a:spcAft>
              <a:tabLst>
                <a:tab pos="270510" algn="l"/>
              </a:tabLst>
            </a:pPr>
            <a:r>
              <a:rPr lang="eu-ES" sz="1000" b="1" dirty="0">
                <a:solidFill>
                  <a:srgbClr val="244061"/>
                </a:solidFill>
                <a:effectLst/>
                <a:latin typeface="Courier New"/>
                <a:ea typeface="Times New Roman"/>
              </a:rPr>
              <a:t>@media </a:t>
            </a:r>
            <a:r>
              <a:rPr lang="eu-ES" sz="1000" b="1" dirty="0" err="1">
                <a:solidFill>
                  <a:srgbClr val="244061"/>
                </a:solidFill>
                <a:effectLst/>
                <a:latin typeface="Courier New"/>
                <a:ea typeface="Times New Roman"/>
              </a:rPr>
              <a:t>screen</a:t>
            </a:r>
            <a:r>
              <a:rPr lang="eu-ES" sz="1000" b="1" dirty="0">
                <a:solidFill>
                  <a:srgbClr val="244061"/>
                </a:solidFill>
                <a:effectLst/>
                <a:latin typeface="Courier New"/>
                <a:ea typeface="Times New Roman"/>
              </a:rPr>
              <a:t> and (max-width:500</a:t>
            </a:r>
            <a:r>
              <a:rPr lang="eu-ES" sz="1000" b="1" dirty="0" err="1">
                <a:solidFill>
                  <a:srgbClr val="244061"/>
                </a:solidFill>
                <a:effectLst/>
                <a:latin typeface="Courier New"/>
                <a:ea typeface="Times New Roman"/>
              </a:rPr>
              <a:t>px){  </a:t>
            </a:r>
            <a:endParaRPr lang="es-ES" sz="1200" dirty="0">
              <a:effectLst/>
              <a:latin typeface="Times New Roman"/>
              <a:ea typeface="Times New Roman"/>
            </a:endParaRPr>
          </a:p>
          <a:p>
            <a:pPr marL="899160">
              <a:spcAft>
                <a:spcPts val="0"/>
              </a:spcAft>
              <a:tabLst>
                <a:tab pos="270510" algn="l"/>
              </a:tabLst>
            </a:pPr>
            <a:r>
              <a:rPr lang="eu-ES" sz="1000" b="1" dirty="0" err="1">
                <a:solidFill>
                  <a:srgbClr val="000000"/>
                </a:solidFill>
                <a:effectLst/>
                <a:latin typeface="Courier New"/>
                <a:ea typeface="Times New Roman"/>
              </a:rPr>
              <a:t>header</a:t>
            </a:r>
            <a:r>
              <a:rPr lang="eu-ES" sz="1000" b="1" dirty="0">
                <a:solidFill>
                  <a:srgbClr val="000000"/>
                </a:solidFill>
                <a:effectLst/>
                <a:latin typeface="Courier New"/>
                <a:ea typeface="Times New Roman"/>
              </a:rPr>
              <a:t>, </a:t>
            </a:r>
            <a:r>
              <a:rPr lang="eu-ES" sz="1000" b="1" dirty="0" err="1">
                <a:solidFill>
                  <a:srgbClr val="000000"/>
                </a:solidFill>
                <a:effectLst/>
                <a:latin typeface="Courier New"/>
                <a:ea typeface="Times New Roman"/>
              </a:rPr>
              <a:t>nav</a:t>
            </a:r>
            <a:r>
              <a:rPr lang="eu-ES" sz="1000" b="1" dirty="0">
                <a:solidFill>
                  <a:srgbClr val="000000"/>
                </a:solidFill>
                <a:effectLst/>
                <a:latin typeface="Courier New"/>
                <a:ea typeface="Times New Roman"/>
              </a:rPr>
              <a:t>, </a:t>
            </a:r>
            <a:r>
              <a:rPr lang="eu-ES" sz="1000" b="1" dirty="0" err="1">
                <a:solidFill>
                  <a:srgbClr val="000000"/>
                </a:solidFill>
                <a:effectLst/>
                <a:latin typeface="Courier New"/>
                <a:ea typeface="Times New Roman"/>
              </a:rPr>
              <a:t>footer</a:t>
            </a:r>
            <a:r>
              <a:rPr lang="eu-ES" sz="1000" b="1" dirty="0">
                <a:solidFill>
                  <a:srgbClr val="000000"/>
                </a:solidFill>
                <a:effectLst/>
                <a:latin typeface="Courier New"/>
                <a:ea typeface="Times New Roman"/>
              </a:rPr>
              <a:t> {</a:t>
            </a:r>
            <a:endParaRPr lang="es-ES" sz="1200" dirty="0">
              <a:effectLst/>
              <a:latin typeface="Times New Roman"/>
              <a:ea typeface="Times New Roman"/>
            </a:endParaRPr>
          </a:p>
          <a:p>
            <a:pPr marL="899160">
              <a:spcAft>
                <a:spcPts val="0"/>
              </a:spcAft>
              <a:tabLst>
                <a:tab pos="270510" algn="l"/>
              </a:tabLst>
            </a:pPr>
            <a:r>
              <a:rPr lang="eu-ES" sz="1000" b="1" dirty="0">
                <a:solidFill>
                  <a:srgbClr val="000000"/>
                </a:solidFill>
                <a:effectLst/>
                <a:latin typeface="Courier New"/>
                <a:ea typeface="Times New Roman"/>
              </a:rPr>
              <a:t>	</a:t>
            </a:r>
            <a:r>
              <a:rPr lang="eu-ES" sz="1000" b="1" dirty="0" err="1">
                <a:solidFill>
                  <a:srgbClr val="984806"/>
                </a:solidFill>
                <a:effectLst/>
                <a:latin typeface="Courier New"/>
                <a:ea typeface="Times New Roman"/>
              </a:rPr>
              <a:t>height</a:t>
            </a:r>
            <a:r>
              <a:rPr lang="eu-ES" sz="1000" b="1" dirty="0">
                <a:solidFill>
                  <a:srgbClr val="984806"/>
                </a:solidFill>
                <a:effectLst/>
                <a:latin typeface="Courier New"/>
                <a:ea typeface="Times New Roman"/>
              </a:rPr>
              <a:t>: 50px;</a:t>
            </a:r>
            <a:endParaRPr lang="es-ES" sz="1200" dirty="0">
              <a:effectLst/>
              <a:latin typeface="Times New Roman"/>
              <a:ea typeface="Times New Roman"/>
            </a:endParaRPr>
          </a:p>
          <a:p>
            <a:pPr marL="899160">
              <a:spcAft>
                <a:spcPts val="0"/>
              </a:spcAft>
              <a:tabLst>
                <a:tab pos="270510" algn="l"/>
              </a:tabLst>
            </a:pPr>
            <a:r>
              <a:rPr lang="eu-ES" sz="1000" b="1" dirty="0">
                <a:solidFill>
                  <a:srgbClr val="984806"/>
                </a:solidFill>
                <a:effectLst/>
                <a:latin typeface="Courier New"/>
                <a:ea typeface="Times New Roman"/>
              </a:rPr>
              <a:t>	</a:t>
            </a:r>
            <a:r>
              <a:rPr lang="eu-ES" sz="1000" b="1" dirty="0" err="1">
                <a:solidFill>
                  <a:srgbClr val="984806"/>
                </a:solidFill>
                <a:effectLst/>
                <a:latin typeface="Courier New"/>
                <a:ea typeface="Times New Roman"/>
              </a:rPr>
              <a:t>width</a:t>
            </a:r>
            <a:r>
              <a:rPr lang="eu-ES" sz="1000" b="1" dirty="0">
                <a:solidFill>
                  <a:srgbClr val="984806"/>
                </a:solidFill>
                <a:effectLst/>
                <a:latin typeface="Courier New"/>
                <a:ea typeface="Times New Roman"/>
              </a:rPr>
              <a:t>: 100%;</a:t>
            </a:r>
            <a:endParaRPr lang="es-ES" sz="1200" dirty="0">
              <a:effectLst/>
              <a:latin typeface="Times New Roman"/>
              <a:ea typeface="Times New Roman"/>
            </a:endParaRPr>
          </a:p>
          <a:p>
            <a:pPr marL="899160">
              <a:spcAft>
                <a:spcPts val="0"/>
              </a:spcAft>
              <a:tabLst>
                <a:tab pos="270510" algn="l"/>
              </a:tabLst>
            </a:pPr>
            <a:r>
              <a:rPr lang="eu-ES" sz="1000" b="1" dirty="0">
                <a:solidFill>
                  <a:srgbClr val="000000"/>
                </a:solidFill>
                <a:effectLst/>
                <a:latin typeface="Courier New"/>
                <a:ea typeface="Times New Roman"/>
              </a:rPr>
              <a:t>}</a:t>
            </a:r>
            <a:endParaRPr lang="es-ES" sz="1200" dirty="0">
              <a:effectLst/>
              <a:latin typeface="Times New Roman"/>
              <a:ea typeface="Times New Roman"/>
            </a:endParaRPr>
          </a:p>
          <a:p>
            <a:pPr marL="449580">
              <a:spcAft>
                <a:spcPts val="0"/>
              </a:spcAft>
              <a:tabLst>
                <a:tab pos="270510" algn="l"/>
              </a:tabLst>
            </a:pPr>
            <a:r>
              <a:rPr lang="eu-ES" sz="1000" b="1" dirty="0">
                <a:solidFill>
                  <a:srgbClr val="244061"/>
                </a:solidFill>
                <a:effectLst/>
                <a:latin typeface="Courier New"/>
                <a:ea typeface="Times New Roman"/>
              </a:rPr>
              <a:t>} </a:t>
            </a:r>
            <a:endParaRPr lang="es-ES" sz="1200"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38973767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7017306"/>
          </a:xfrm>
          <a:prstGeom prst="rect">
            <a:avLst/>
          </a:prstGeom>
          <a:noFill/>
        </p:spPr>
        <p:txBody>
          <a:bodyPr wrap="square" rtlCol="0">
            <a:spAutoFit/>
          </a:bodyPr>
          <a:lstStyle/>
          <a:p>
            <a:r>
              <a:rPr lang="es-ES" dirty="0" smtClean="0"/>
              <a:t>Los módulos media </a:t>
            </a:r>
            <a:r>
              <a:rPr lang="es-ES" dirty="0" err="1" smtClean="0"/>
              <a:t>queries</a:t>
            </a:r>
            <a:r>
              <a:rPr lang="es-ES" dirty="0" smtClean="0"/>
              <a:t> son las reglas de  CSS3 para que el contenido de la web se adapte al tamaño de las dispositivos. </a:t>
            </a:r>
          </a:p>
          <a:p>
            <a:pPr marL="342900" lvl="0" indent="-342900">
              <a:buFont typeface="+mj-lt"/>
              <a:buAutoNum type="arabicPeriod"/>
            </a:pPr>
            <a:r>
              <a:rPr lang="es-ES" dirty="0" smtClean="0"/>
              <a:t>Dentro de la etiqueta </a:t>
            </a:r>
            <a:r>
              <a:rPr lang="sq-AL" dirty="0" smtClean="0"/>
              <a:t>&lt;style&gt;</a:t>
            </a:r>
            <a:r>
              <a:rPr lang="es-ES" dirty="0" smtClean="0"/>
              <a:t> de</a:t>
            </a:r>
            <a:r>
              <a:rPr lang="sq-AL" dirty="0" smtClean="0"/>
              <a:t> HTML</a:t>
            </a:r>
            <a:r>
              <a:rPr lang="es-ES" dirty="0" smtClean="0"/>
              <a:t>. </a:t>
            </a:r>
          </a:p>
          <a:p>
            <a:pPr marL="342900" lvl="0" indent="-342900">
              <a:buFont typeface="+mj-lt"/>
              <a:buAutoNum type="arabicPeriod"/>
            </a:pPr>
            <a:r>
              <a:rPr lang="es-ES" dirty="0"/>
              <a:t>Dentro </a:t>
            </a:r>
            <a:r>
              <a:rPr lang="es-ES" dirty="0" smtClean="0"/>
              <a:t>del CSS. </a:t>
            </a:r>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800100" lvl="1" indent="-342900">
              <a:buFont typeface="Arial" pitchFamily="34" charset="0"/>
              <a:buChar char="•"/>
            </a:pPr>
            <a:r>
              <a:rPr lang="es-ES" dirty="0" smtClean="0"/>
              <a:t>Se escribirá la norma @media dentro del </a:t>
            </a:r>
            <a:r>
              <a:rPr lang="es-ES" dirty="0" err="1" smtClean="0"/>
              <a:t>css</a:t>
            </a:r>
            <a:endParaRPr lang="es-ES" dirty="0" smtClean="0"/>
          </a:p>
          <a:p>
            <a:pPr marL="342900" indent="-342900">
              <a:buFont typeface="+mj-lt"/>
              <a:buAutoNum type="arabicPeriod"/>
            </a:pPr>
            <a:endParaRPr lang="es-ES" dirty="0" smtClean="0"/>
          </a:p>
          <a:p>
            <a:pPr marL="342900" indent="-342900">
              <a:buFont typeface="+mj-lt"/>
              <a:buAutoNum type="arabicPeriod"/>
            </a:pPr>
            <a:endParaRPr lang="es-ES" dirty="0"/>
          </a:p>
          <a:p>
            <a:pPr marL="342900" indent="-342900">
              <a:buFont typeface="+mj-lt"/>
              <a:buAutoNum type="arabicPeriod"/>
            </a:pPr>
            <a:endParaRPr lang="es-ES" dirty="0" smtClean="0"/>
          </a:p>
          <a:p>
            <a:pPr marL="342900" indent="-342900">
              <a:buFont typeface="+mj-lt"/>
              <a:buAutoNum type="arabicPeriod"/>
            </a:pPr>
            <a:endParaRPr lang="es-ES" dirty="0"/>
          </a:p>
          <a:p>
            <a:pPr marL="342900" indent="-342900">
              <a:buFont typeface="+mj-lt"/>
              <a:buAutoNum type="arabicPeriod"/>
            </a:pPr>
            <a:endParaRPr lang="es-ES" dirty="0" smtClean="0"/>
          </a:p>
          <a:p>
            <a:pPr marL="342900" indent="-342900">
              <a:buFont typeface="+mj-lt"/>
              <a:buAutoNum type="arabicPeriod"/>
            </a:pPr>
            <a:r>
              <a:rPr lang="es-ES" dirty="0" smtClean="0"/>
              <a:t>Dentro </a:t>
            </a:r>
            <a:r>
              <a:rPr lang="es-ES" dirty="0"/>
              <a:t>dela etiqueta &lt;head&gt; del HTML.</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6" name="Testu-koadroa 484"/>
          <p:cNvSpPr txBox="1"/>
          <p:nvPr/>
        </p:nvSpPr>
        <p:spPr>
          <a:xfrm>
            <a:off x="971600" y="3132773"/>
            <a:ext cx="5760640" cy="944299"/>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marL="449580">
              <a:spcAft>
                <a:spcPts val="0"/>
              </a:spcAft>
              <a:tabLst>
                <a:tab pos="270510" algn="l"/>
              </a:tabLst>
            </a:pPr>
            <a:r>
              <a:rPr lang="eu-ES" sz="1000" b="1" dirty="0">
                <a:solidFill>
                  <a:srgbClr val="244061"/>
                </a:solidFill>
                <a:effectLst/>
                <a:latin typeface="Courier New"/>
                <a:ea typeface="Times New Roman"/>
              </a:rPr>
              <a:t>&lt;</a:t>
            </a:r>
            <a:r>
              <a:rPr lang="eu-ES" sz="1000" b="1" dirty="0" err="1">
                <a:solidFill>
                  <a:srgbClr val="244061"/>
                </a:solidFill>
                <a:effectLst/>
                <a:latin typeface="Courier New"/>
                <a:ea typeface="Times New Roman"/>
              </a:rPr>
              <a:t>link</a:t>
            </a:r>
            <a:r>
              <a:rPr lang="eu-ES" sz="1000" b="1" dirty="0">
                <a:solidFill>
                  <a:srgbClr val="244061"/>
                </a:solidFill>
                <a:effectLst/>
                <a:latin typeface="Courier New"/>
                <a:ea typeface="Times New Roman"/>
              </a:rPr>
              <a:t> </a:t>
            </a:r>
            <a:r>
              <a:rPr lang="eu-ES" sz="1000" b="1" dirty="0" err="1">
                <a:solidFill>
                  <a:srgbClr val="244061"/>
                </a:solidFill>
                <a:effectLst/>
                <a:latin typeface="Courier New"/>
                <a:ea typeface="Times New Roman"/>
              </a:rPr>
              <a:t>rel</a:t>
            </a:r>
            <a:r>
              <a:rPr lang="eu-ES" sz="1000" b="1" dirty="0">
                <a:solidFill>
                  <a:srgbClr val="244061"/>
                </a:solidFill>
                <a:effectLst/>
                <a:latin typeface="Courier New"/>
                <a:ea typeface="Times New Roman"/>
              </a:rPr>
              <a:t>="</a:t>
            </a:r>
            <a:r>
              <a:rPr lang="eu-ES" sz="1000" b="1" dirty="0" err="1">
                <a:solidFill>
                  <a:srgbClr val="244061"/>
                </a:solidFill>
                <a:effectLst/>
                <a:latin typeface="Courier New"/>
                <a:ea typeface="Times New Roman"/>
              </a:rPr>
              <a:t>stylesheet</a:t>
            </a:r>
            <a:r>
              <a:rPr lang="eu-ES" sz="1000" b="1" dirty="0">
                <a:solidFill>
                  <a:srgbClr val="244061"/>
                </a:solidFill>
                <a:effectLst/>
                <a:latin typeface="Courier New"/>
                <a:ea typeface="Times New Roman"/>
              </a:rPr>
              <a:t>" </a:t>
            </a:r>
            <a:r>
              <a:rPr lang="eu-ES" sz="1000" b="1" dirty="0" err="1">
                <a:solidFill>
                  <a:srgbClr val="244061"/>
                </a:solidFill>
                <a:effectLst/>
                <a:latin typeface="Courier New"/>
                <a:ea typeface="Times New Roman"/>
              </a:rPr>
              <a:t>href</a:t>
            </a:r>
            <a:r>
              <a:rPr lang="eu-ES" sz="1000" b="1" dirty="0">
                <a:solidFill>
                  <a:srgbClr val="244061"/>
                </a:solidFill>
                <a:effectLst/>
                <a:latin typeface="Courier New"/>
                <a:ea typeface="Times New Roman"/>
              </a:rPr>
              <a:t>="</a:t>
            </a:r>
            <a:r>
              <a:rPr lang="eu-ES" sz="1000" b="1" dirty="0" err="1">
                <a:solidFill>
                  <a:srgbClr val="244061"/>
                </a:solidFill>
                <a:effectLst/>
                <a:latin typeface="Courier New"/>
                <a:ea typeface="Times New Roman"/>
              </a:rPr>
              <a:t>css/estiloa.css</a:t>
            </a:r>
            <a:r>
              <a:rPr lang="eu-ES" sz="1000" b="1" dirty="0">
                <a:solidFill>
                  <a:srgbClr val="244061"/>
                </a:solidFill>
                <a:effectLst/>
                <a:latin typeface="Courier New"/>
                <a:ea typeface="Times New Roman"/>
              </a:rPr>
              <a:t>" /&gt;</a:t>
            </a:r>
            <a:endParaRPr lang="es-ES" sz="1200" dirty="0">
              <a:effectLst/>
              <a:latin typeface="Times New Roman"/>
              <a:ea typeface="Times New Roman"/>
            </a:endParaRPr>
          </a:p>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marL="220980">
              <a:spcAft>
                <a:spcPts val="0"/>
              </a:spcAft>
              <a:tabLst>
                <a:tab pos="270510" algn="l"/>
              </a:tabLst>
            </a:pPr>
            <a:r>
              <a:rPr lang="eu-ES" sz="1200" b="1" dirty="0">
                <a:solidFill>
                  <a:srgbClr val="244061"/>
                </a:solidFill>
                <a:effectLst/>
                <a:latin typeface="Courier New"/>
                <a:ea typeface="Times New Roman"/>
              </a:rPr>
              <a:t> </a:t>
            </a:r>
            <a:endParaRPr lang="es-ES" sz="1200"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
        <p:nvSpPr>
          <p:cNvPr id="8" name="Testu-koadroa 483"/>
          <p:cNvSpPr txBox="1"/>
          <p:nvPr/>
        </p:nvSpPr>
        <p:spPr>
          <a:xfrm>
            <a:off x="1698059" y="4725143"/>
            <a:ext cx="4883785" cy="948055"/>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449580">
              <a:spcAft>
                <a:spcPts val="0"/>
              </a:spcAft>
              <a:tabLst>
                <a:tab pos="270510" algn="l"/>
              </a:tabLst>
            </a:pPr>
            <a:r>
              <a:rPr lang="eu-ES" sz="1000" b="1" dirty="0">
                <a:solidFill>
                  <a:srgbClr val="244061"/>
                </a:solidFill>
                <a:effectLst/>
                <a:latin typeface="Courier New"/>
                <a:ea typeface="Times New Roman"/>
              </a:rPr>
              <a:t>@media </a:t>
            </a:r>
            <a:r>
              <a:rPr lang="eu-ES" sz="1000" b="1" dirty="0" err="1">
                <a:solidFill>
                  <a:srgbClr val="244061"/>
                </a:solidFill>
                <a:effectLst/>
                <a:latin typeface="Courier New"/>
                <a:ea typeface="Times New Roman"/>
              </a:rPr>
              <a:t>screen</a:t>
            </a:r>
            <a:r>
              <a:rPr lang="eu-ES" sz="1000" b="1" dirty="0">
                <a:solidFill>
                  <a:srgbClr val="244061"/>
                </a:solidFill>
                <a:effectLst/>
                <a:latin typeface="Courier New"/>
                <a:ea typeface="Times New Roman"/>
              </a:rPr>
              <a:t> and (max-width:500</a:t>
            </a:r>
            <a:r>
              <a:rPr lang="eu-ES" sz="1000" b="1" dirty="0" err="1">
                <a:solidFill>
                  <a:srgbClr val="244061"/>
                </a:solidFill>
                <a:effectLst/>
                <a:latin typeface="Courier New"/>
                <a:ea typeface="Times New Roman"/>
              </a:rPr>
              <a:t>px){  </a:t>
            </a:r>
            <a:endParaRPr lang="es-ES" sz="1200" dirty="0">
              <a:effectLst/>
              <a:latin typeface="Times New Roman"/>
              <a:ea typeface="Times New Roman"/>
            </a:endParaRPr>
          </a:p>
          <a:p>
            <a:pPr marL="899160">
              <a:spcAft>
                <a:spcPts val="0"/>
              </a:spcAft>
              <a:tabLst>
                <a:tab pos="270510" algn="l"/>
              </a:tabLst>
            </a:pPr>
            <a:r>
              <a:rPr lang="eu-ES" sz="1000" b="1" dirty="0" err="1">
                <a:solidFill>
                  <a:srgbClr val="000000"/>
                </a:solidFill>
                <a:effectLst/>
                <a:latin typeface="Courier New"/>
                <a:ea typeface="Times New Roman"/>
              </a:rPr>
              <a:t>header</a:t>
            </a:r>
            <a:r>
              <a:rPr lang="eu-ES" sz="1000" b="1" dirty="0">
                <a:solidFill>
                  <a:srgbClr val="000000"/>
                </a:solidFill>
                <a:effectLst/>
                <a:latin typeface="Courier New"/>
                <a:ea typeface="Times New Roman"/>
              </a:rPr>
              <a:t>, </a:t>
            </a:r>
            <a:r>
              <a:rPr lang="eu-ES" sz="1000" b="1" dirty="0" err="1">
                <a:solidFill>
                  <a:srgbClr val="000000"/>
                </a:solidFill>
                <a:effectLst/>
                <a:latin typeface="Courier New"/>
                <a:ea typeface="Times New Roman"/>
              </a:rPr>
              <a:t>nav</a:t>
            </a:r>
            <a:r>
              <a:rPr lang="eu-ES" sz="1000" b="1" dirty="0">
                <a:solidFill>
                  <a:srgbClr val="000000"/>
                </a:solidFill>
                <a:effectLst/>
                <a:latin typeface="Courier New"/>
                <a:ea typeface="Times New Roman"/>
              </a:rPr>
              <a:t>, </a:t>
            </a:r>
            <a:r>
              <a:rPr lang="eu-ES" sz="1000" b="1" dirty="0" err="1">
                <a:solidFill>
                  <a:srgbClr val="000000"/>
                </a:solidFill>
                <a:effectLst/>
                <a:latin typeface="Courier New"/>
                <a:ea typeface="Times New Roman"/>
              </a:rPr>
              <a:t>footer</a:t>
            </a:r>
            <a:r>
              <a:rPr lang="eu-ES" sz="1000" b="1" dirty="0">
                <a:solidFill>
                  <a:srgbClr val="000000"/>
                </a:solidFill>
                <a:effectLst/>
                <a:latin typeface="Courier New"/>
                <a:ea typeface="Times New Roman"/>
              </a:rPr>
              <a:t> {</a:t>
            </a:r>
            <a:endParaRPr lang="es-ES" sz="1200" dirty="0">
              <a:effectLst/>
              <a:latin typeface="Times New Roman"/>
              <a:ea typeface="Times New Roman"/>
            </a:endParaRPr>
          </a:p>
          <a:p>
            <a:pPr marL="899160">
              <a:spcAft>
                <a:spcPts val="0"/>
              </a:spcAft>
              <a:tabLst>
                <a:tab pos="270510" algn="l"/>
              </a:tabLst>
            </a:pPr>
            <a:r>
              <a:rPr lang="eu-ES" sz="1000" b="1" dirty="0">
                <a:solidFill>
                  <a:srgbClr val="000000"/>
                </a:solidFill>
                <a:effectLst/>
                <a:latin typeface="Courier New"/>
                <a:ea typeface="Times New Roman"/>
              </a:rPr>
              <a:t>	</a:t>
            </a:r>
            <a:r>
              <a:rPr lang="eu-ES" sz="1000" b="1" dirty="0" err="1">
                <a:solidFill>
                  <a:srgbClr val="984806"/>
                </a:solidFill>
                <a:effectLst/>
                <a:latin typeface="Courier New"/>
                <a:ea typeface="Times New Roman"/>
              </a:rPr>
              <a:t>height</a:t>
            </a:r>
            <a:r>
              <a:rPr lang="eu-ES" sz="1000" b="1" dirty="0">
                <a:solidFill>
                  <a:srgbClr val="984806"/>
                </a:solidFill>
                <a:effectLst/>
                <a:latin typeface="Courier New"/>
                <a:ea typeface="Times New Roman"/>
              </a:rPr>
              <a:t>: 50px;</a:t>
            </a:r>
            <a:endParaRPr lang="es-ES" sz="1200" dirty="0">
              <a:effectLst/>
              <a:latin typeface="Times New Roman"/>
              <a:ea typeface="Times New Roman"/>
            </a:endParaRPr>
          </a:p>
          <a:p>
            <a:pPr marL="899160">
              <a:spcAft>
                <a:spcPts val="0"/>
              </a:spcAft>
              <a:tabLst>
                <a:tab pos="270510" algn="l"/>
              </a:tabLst>
            </a:pPr>
            <a:r>
              <a:rPr lang="eu-ES" sz="1000" b="1" dirty="0">
                <a:solidFill>
                  <a:srgbClr val="984806"/>
                </a:solidFill>
                <a:effectLst/>
                <a:latin typeface="Courier New"/>
                <a:ea typeface="Times New Roman"/>
              </a:rPr>
              <a:t>	</a:t>
            </a:r>
            <a:r>
              <a:rPr lang="eu-ES" sz="1000" b="1" dirty="0" err="1">
                <a:solidFill>
                  <a:srgbClr val="984806"/>
                </a:solidFill>
                <a:effectLst/>
                <a:latin typeface="Courier New"/>
                <a:ea typeface="Times New Roman"/>
              </a:rPr>
              <a:t>width</a:t>
            </a:r>
            <a:r>
              <a:rPr lang="eu-ES" sz="1000" b="1" dirty="0">
                <a:solidFill>
                  <a:srgbClr val="984806"/>
                </a:solidFill>
                <a:effectLst/>
                <a:latin typeface="Courier New"/>
                <a:ea typeface="Times New Roman"/>
              </a:rPr>
              <a:t>: 100%;</a:t>
            </a:r>
            <a:endParaRPr lang="es-ES" sz="1200" dirty="0">
              <a:effectLst/>
              <a:latin typeface="Times New Roman"/>
              <a:ea typeface="Times New Roman"/>
            </a:endParaRPr>
          </a:p>
          <a:p>
            <a:pPr marL="899160">
              <a:spcAft>
                <a:spcPts val="0"/>
              </a:spcAft>
              <a:tabLst>
                <a:tab pos="270510" algn="l"/>
              </a:tabLst>
            </a:pPr>
            <a:r>
              <a:rPr lang="eu-ES" sz="1000" b="1" dirty="0">
                <a:solidFill>
                  <a:srgbClr val="000000"/>
                </a:solidFill>
                <a:effectLst/>
                <a:latin typeface="Courier New"/>
                <a:ea typeface="Times New Roman"/>
              </a:rPr>
              <a:t>}</a:t>
            </a:r>
            <a:endParaRPr lang="es-ES" sz="1200" dirty="0">
              <a:effectLst/>
              <a:latin typeface="Times New Roman"/>
              <a:ea typeface="Times New Roman"/>
            </a:endParaRPr>
          </a:p>
          <a:p>
            <a:pPr marL="449580">
              <a:spcAft>
                <a:spcPts val="0"/>
              </a:spcAft>
              <a:tabLst>
                <a:tab pos="270510" algn="l"/>
              </a:tabLst>
            </a:pPr>
            <a:r>
              <a:rPr lang="eu-ES" sz="1000" b="1" dirty="0">
                <a:solidFill>
                  <a:srgbClr val="244061"/>
                </a:solidFill>
                <a:effectLst/>
                <a:latin typeface="Courier New"/>
                <a:ea typeface="Times New Roman"/>
              </a:rPr>
              <a:t>} </a:t>
            </a:r>
            <a:endParaRPr lang="es-ES" sz="1200"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28022745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4801314"/>
          </a:xfrm>
          <a:prstGeom prst="rect">
            <a:avLst/>
          </a:prstGeom>
          <a:noFill/>
        </p:spPr>
        <p:txBody>
          <a:bodyPr wrap="square" rtlCol="0">
            <a:spAutoFit/>
          </a:bodyPr>
          <a:lstStyle/>
          <a:p>
            <a:r>
              <a:rPr lang="es-ES" dirty="0" smtClean="0"/>
              <a:t>Los módulos media </a:t>
            </a:r>
            <a:r>
              <a:rPr lang="es-ES" dirty="0" err="1" smtClean="0"/>
              <a:t>queries</a:t>
            </a:r>
            <a:r>
              <a:rPr lang="es-ES" dirty="0" smtClean="0"/>
              <a:t> son las reglas de  CSS3 para que el contenido de la web se adapte al tamaño de las dispositivos. </a:t>
            </a:r>
          </a:p>
          <a:p>
            <a:pPr marL="342900" lvl="0" indent="-342900">
              <a:buFont typeface="+mj-lt"/>
              <a:buAutoNum type="arabicPeriod"/>
            </a:pPr>
            <a:r>
              <a:rPr lang="es-ES" dirty="0" smtClean="0"/>
              <a:t>Dentro de la etiqueta </a:t>
            </a:r>
            <a:r>
              <a:rPr lang="sq-AL" dirty="0" smtClean="0"/>
              <a:t>&lt;style&gt;</a:t>
            </a:r>
            <a:r>
              <a:rPr lang="es-ES" dirty="0" smtClean="0"/>
              <a:t> de</a:t>
            </a:r>
            <a:r>
              <a:rPr lang="sq-AL" dirty="0" smtClean="0"/>
              <a:t> HTML</a:t>
            </a:r>
            <a:r>
              <a:rPr lang="es-ES" dirty="0" smtClean="0"/>
              <a:t>. </a:t>
            </a:r>
          </a:p>
          <a:p>
            <a:pPr marL="342900" lvl="0" indent="-342900">
              <a:buFont typeface="+mj-lt"/>
              <a:buAutoNum type="arabicPeriod"/>
            </a:pPr>
            <a:r>
              <a:rPr lang="es-ES" dirty="0"/>
              <a:t>Dentro </a:t>
            </a:r>
            <a:r>
              <a:rPr lang="es-ES" dirty="0" smtClean="0"/>
              <a:t>del CSS. </a:t>
            </a:r>
          </a:p>
          <a:p>
            <a:pPr marL="342900" indent="-342900">
              <a:buFont typeface="+mj-lt"/>
              <a:buAutoNum type="arabicPeriod"/>
            </a:pPr>
            <a:r>
              <a:rPr lang="es-ES" dirty="0" smtClean="0"/>
              <a:t>Dentro </a:t>
            </a:r>
            <a:r>
              <a:rPr lang="es-ES" dirty="0"/>
              <a:t>dela etiqueta &lt;head&gt; del HTML</a:t>
            </a:r>
            <a:r>
              <a:rPr lang="es-ES" dirty="0" smtClean="0"/>
              <a:t>. </a:t>
            </a:r>
            <a:r>
              <a:rPr lang="es-ES" b="1" dirty="0" smtClean="0"/>
              <a:t>AND, NOT, ONLY</a:t>
            </a:r>
          </a:p>
          <a:p>
            <a:pPr marL="34290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7" name="Testu-koadroa 482"/>
          <p:cNvSpPr txBox="1"/>
          <p:nvPr/>
        </p:nvSpPr>
        <p:spPr>
          <a:xfrm>
            <a:off x="1245421" y="3861048"/>
            <a:ext cx="4883785" cy="2048510"/>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marL="220980">
              <a:spcAft>
                <a:spcPts val="0"/>
              </a:spcAft>
              <a:tabLst>
                <a:tab pos="270510" algn="l"/>
              </a:tabLst>
            </a:pPr>
            <a:r>
              <a:rPr lang="eu-ES" sz="1000" b="1" dirty="0">
                <a:solidFill>
                  <a:srgbClr val="000000"/>
                </a:solidFill>
                <a:effectLst/>
                <a:latin typeface="Courier New"/>
                <a:ea typeface="Times New Roman"/>
              </a:rPr>
              <a:t> </a:t>
            </a:r>
            <a:endParaRPr lang="es-ES" sz="1200" dirty="0">
              <a:effectLst/>
              <a:latin typeface="Times New Roman"/>
              <a:ea typeface="Times New Roman"/>
            </a:endParaRPr>
          </a:p>
          <a:p>
            <a:pPr marL="449580">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b="1" dirty="0">
                <a:solidFill>
                  <a:srgbClr val="244061"/>
                </a:solidFill>
                <a:effectLst/>
                <a:latin typeface="Courier New"/>
                <a:ea typeface="Times New Roman"/>
                <a:cs typeface="Times New Roman"/>
              </a:rPr>
              <a:t>&lt;link </a:t>
            </a:r>
            <a:r>
              <a:rPr lang="en-GB" sz="1000" b="1" dirty="0" err="1">
                <a:solidFill>
                  <a:srgbClr val="244061"/>
                </a:solidFill>
                <a:effectLst/>
                <a:latin typeface="Courier New"/>
                <a:ea typeface="Times New Roman"/>
                <a:cs typeface="Times New Roman"/>
              </a:rPr>
              <a:t>rel</a:t>
            </a:r>
            <a:r>
              <a:rPr lang="en-GB" sz="1000" b="1" dirty="0">
                <a:solidFill>
                  <a:srgbClr val="244061"/>
                </a:solidFill>
                <a:effectLst/>
                <a:latin typeface="Courier New"/>
                <a:ea typeface="Times New Roman"/>
                <a:cs typeface="Times New Roman"/>
              </a:rPr>
              <a:t>="</a:t>
            </a:r>
            <a:r>
              <a:rPr lang="en-GB" sz="1000" b="1" dirty="0" err="1">
                <a:solidFill>
                  <a:srgbClr val="244061"/>
                </a:solidFill>
                <a:effectLst/>
                <a:latin typeface="Courier New"/>
                <a:ea typeface="Times New Roman"/>
                <a:cs typeface="Times New Roman"/>
              </a:rPr>
              <a:t>stylesheet</a:t>
            </a:r>
            <a:r>
              <a:rPr lang="en-GB" sz="1000" b="1" dirty="0">
                <a:solidFill>
                  <a:srgbClr val="244061"/>
                </a:solidFill>
                <a:effectLst/>
                <a:latin typeface="Courier New"/>
                <a:ea typeface="Times New Roman"/>
                <a:cs typeface="Times New Roman"/>
              </a:rPr>
              <a:t>" media="screen and (max-width: 800px) and (min-width: 300px)" </a:t>
            </a:r>
            <a:r>
              <a:rPr lang="en-GB" sz="1000" b="1" dirty="0" err="1">
                <a:solidFill>
                  <a:srgbClr val="244061"/>
                </a:solidFill>
                <a:effectLst/>
                <a:latin typeface="Courier New"/>
                <a:ea typeface="Times New Roman"/>
                <a:cs typeface="Times New Roman"/>
              </a:rPr>
              <a:t>href</a:t>
            </a:r>
            <a:r>
              <a:rPr lang="en-GB" sz="1000" b="1" dirty="0">
                <a:solidFill>
                  <a:srgbClr val="244061"/>
                </a:solidFill>
                <a:effectLst/>
                <a:latin typeface="Courier New"/>
                <a:ea typeface="Times New Roman"/>
                <a:cs typeface="Times New Roman"/>
              </a:rPr>
              <a:t>="</a:t>
            </a:r>
            <a:r>
              <a:rPr lang="eu-ES" sz="1000" b="1" dirty="0">
                <a:solidFill>
                  <a:srgbClr val="244061"/>
                </a:solidFill>
                <a:effectLst/>
                <a:latin typeface="Courier New"/>
                <a:ea typeface="Calibri"/>
                <a:cs typeface="Times New Roman"/>
              </a:rPr>
              <a:t> </a:t>
            </a:r>
            <a:r>
              <a:rPr lang="eu-ES" sz="1000" b="1" dirty="0" err="1">
                <a:solidFill>
                  <a:srgbClr val="244061"/>
                </a:solidFill>
                <a:effectLst/>
                <a:latin typeface="Courier New"/>
                <a:ea typeface="Calibri"/>
                <a:cs typeface="Times New Roman"/>
              </a:rPr>
              <a:t>css/estiloa.css</a:t>
            </a:r>
            <a:r>
              <a:rPr lang="en-GB" sz="1000" b="1" dirty="0">
                <a:solidFill>
                  <a:srgbClr val="244061"/>
                </a:solidFill>
                <a:effectLst/>
                <a:latin typeface="Courier New"/>
                <a:ea typeface="Times New Roman"/>
                <a:cs typeface="Times New Roman"/>
              </a:rPr>
              <a:t>" /&gt;</a:t>
            </a:r>
            <a:endParaRPr lang="es-ES" sz="1100" dirty="0">
              <a:effectLst/>
              <a:ea typeface="Calibri"/>
              <a:cs typeface="Times New Roman"/>
            </a:endParaRPr>
          </a:p>
          <a:p>
            <a:pPr marL="449580">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b="1" dirty="0">
                <a:solidFill>
                  <a:srgbClr val="244061"/>
                </a:solidFill>
                <a:effectLst/>
                <a:latin typeface="Courier New"/>
                <a:ea typeface="Times New Roman"/>
                <a:cs typeface="Times New Roman"/>
              </a:rPr>
              <a:t/>
            </a:r>
            <a:br>
              <a:rPr lang="en-GB" sz="1000" b="1" dirty="0">
                <a:solidFill>
                  <a:srgbClr val="244061"/>
                </a:solidFill>
                <a:effectLst/>
                <a:latin typeface="Courier New"/>
                <a:ea typeface="Times New Roman"/>
                <a:cs typeface="Times New Roman"/>
              </a:rPr>
            </a:br>
            <a:r>
              <a:rPr lang="en-GB" sz="1000" b="1" dirty="0">
                <a:solidFill>
                  <a:srgbClr val="244061"/>
                </a:solidFill>
                <a:effectLst/>
                <a:latin typeface="Courier New"/>
                <a:ea typeface="Times New Roman"/>
                <a:cs typeface="Times New Roman"/>
              </a:rPr>
              <a:t>&lt;link </a:t>
            </a:r>
            <a:r>
              <a:rPr lang="en-GB" sz="1000" b="1" dirty="0" err="1">
                <a:solidFill>
                  <a:srgbClr val="244061"/>
                </a:solidFill>
                <a:effectLst/>
                <a:latin typeface="Courier New"/>
                <a:ea typeface="Times New Roman"/>
                <a:cs typeface="Times New Roman"/>
              </a:rPr>
              <a:t>rel</a:t>
            </a:r>
            <a:r>
              <a:rPr lang="en-GB" sz="1000" b="1" dirty="0">
                <a:solidFill>
                  <a:srgbClr val="244061"/>
                </a:solidFill>
                <a:effectLst/>
                <a:latin typeface="Courier New"/>
                <a:ea typeface="Times New Roman"/>
                <a:cs typeface="Times New Roman"/>
              </a:rPr>
              <a:t>="</a:t>
            </a:r>
            <a:r>
              <a:rPr lang="en-GB" sz="1000" b="1" dirty="0" err="1">
                <a:solidFill>
                  <a:srgbClr val="244061"/>
                </a:solidFill>
                <a:effectLst/>
                <a:latin typeface="Courier New"/>
                <a:ea typeface="Times New Roman"/>
                <a:cs typeface="Times New Roman"/>
              </a:rPr>
              <a:t>stylesheet</a:t>
            </a:r>
            <a:r>
              <a:rPr lang="en-GB" sz="1000" b="1" dirty="0">
                <a:solidFill>
                  <a:srgbClr val="244061"/>
                </a:solidFill>
                <a:effectLst/>
                <a:latin typeface="Courier New"/>
                <a:ea typeface="Times New Roman"/>
                <a:cs typeface="Times New Roman"/>
              </a:rPr>
              <a:t>" media="screen and (min-width: 1200px)" </a:t>
            </a:r>
            <a:r>
              <a:rPr lang="en-GB" sz="1000" b="1" dirty="0" err="1">
                <a:solidFill>
                  <a:srgbClr val="244061"/>
                </a:solidFill>
                <a:effectLst/>
                <a:latin typeface="Courier New"/>
                <a:ea typeface="Times New Roman"/>
                <a:cs typeface="Times New Roman"/>
              </a:rPr>
              <a:t>href</a:t>
            </a:r>
            <a:r>
              <a:rPr lang="en-GB" sz="1000" b="1" dirty="0">
                <a:solidFill>
                  <a:srgbClr val="244061"/>
                </a:solidFill>
                <a:effectLst/>
                <a:latin typeface="Courier New"/>
                <a:ea typeface="Times New Roman"/>
                <a:cs typeface="Times New Roman"/>
              </a:rPr>
              <a:t>="</a:t>
            </a:r>
            <a:r>
              <a:rPr lang="eu-ES" sz="1000" b="1" dirty="0" err="1">
                <a:solidFill>
                  <a:srgbClr val="244061"/>
                </a:solidFill>
                <a:effectLst/>
                <a:latin typeface="Courier New"/>
                <a:ea typeface="Calibri"/>
                <a:cs typeface="Times New Roman"/>
              </a:rPr>
              <a:t>css/estiloa.css</a:t>
            </a:r>
            <a:r>
              <a:rPr lang="en-GB" sz="1000" b="1" dirty="0">
                <a:solidFill>
                  <a:srgbClr val="244061"/>
                </a:solidFill>
                <a:effectLst/>
                <a:latin typeface="Courier New"/>
                <a:ea typeface="Times New Roman"/>
                <a:cs typeface="Times New Roman"/>
              </a:rPr>
              <a:t>" /&gt;</a:t>
            </a:r>
            <a:endParaRPr lang="es-ES" sz="1100" dirty="0">
              <a:effectLst/>
              <a:ea typeface="Calibri"/>
              <a:cs typeface="Times New Roman"/>
            </a:endParaRPr>
          </a:p>
          <a:p>
            <a:pPr marL="449580">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b="1" dirty="0">
                <a:solidFill>
                  <a:srgbClr val="244061"/>
                </a:solidFill>
                <a:effectLst/>
                <a:latin typeface="Courier New"/>
                <a:ea typeface="Times New Roman"/>
                <a:cs typeface="Times New Roman"/>
              </a:rPr>
              <a:t/>
            </a:r>
            <a:br>
              <a:rPr lang="en-GB" sz="1000" b="1" dirty="0">
                <a:solidFill>
                  <a:srgbClr val="244061"/>
                </a:solidFill>
                <a:effectLst/>
                <a:latin typeface="Courier New"/>
                <a:ea typeface="Times New Roman"/>
                <a:cs typeface="Times New Roman"/>
              </a:rPr>
            </a:br>
            <a:r>
              <a:rPr lang="en-GB" sz="1000" b="1" dirty="0">
                <a:solidFill>
                  <a:srgbClr val="244061"/>
                </a:solidFill>
                <a:effectLst/>
                <a:latin typeface="Courier New"/>
                <a:ea typeface="Times New Roman"/>
                <a:cs typeface="Times New Roman"/>
              </a:rPr>
              <a:t>&lt;link </a:t>
            </a:r>
            <a:r>
              <a:rPr lang="en-GB" sz="1000" b="1" dirty="0" err="1">
                <a:solidFill>
                  <a:srgbClr val="244061"/>
                </a:solidFill>
                <a:effectLst/>
                <a:latin typeface="Courier New"/>
                <a:ea typeface="Times New Roman"/>
                <a:cs typeface="Times New Roman"/>
              </a:rPr>
              <a:t>rel</a:t>
            </a:r>
            <a:r>
              <a:rPr lang="en-GB" sz="1000" b="1" dirty="0">
                <a:solidFill>
                  <a:srgbClr val="244061"/>
                </a:solidFill>
                <a:effectLst/>
                <a:latin typeface="Courier New"/>
                <a:ea typeface="Times New Roman"/>
                <a:cs typeface="Times New Roman"/>
              </a:rPr>
              <a:t>="</a:t>
            </a:r>
            <a:r>
              <a:rPr lang="en-GB" sz="1000" b="1" dirty="0" err="1">
                <a:solidFill>
                  <a:srgbClr val="244061"/>
                </a:solidFill>
                <a:effectLst/>
                <a:latin typeface="Courier New"/>
                <a:ea typeface="Times New Roman"/>
                <a:cs typeface="Times New Roman"/>
              </a:rPr>
              <a:t>stylesheet</a:t>
            </a:r>
            <a:r>
              <a:rPr lang="en-GB" sz="1000" b="1" dirty="0">
                <a:solidFill>
                  <a:srgbClr val="244061"/>
                </a:solidFill>
                <a:effectLst/>
                <a:latin typeface="Courier New"/>
                <a:ea typeface="Times New Roman"/>
                <a:cs typeface="Times New Roman"/>
              </a:rPr>
              <a:t>" media=screen and (min-width: 1600px)" </a:t>
            </a:r>
            <a:r>
              <a:rPr lang="en-GB" sz="1000" b="1" dirty="0" err="1">
                <a:solidFill>
                  <a:srgbClr val="244061"/>
                </a:solidFill>
                <a:effectLst/>
                <a:latin typeface="Courier New"/>
                <a:ea typeface="Times New Roman"/>
                <a:cs typeface="Times New Roman"/>
              </a:rPr>
              <a:t>href</a:t>
            </a:r>
            <a:r>
              <a:rPr lang="en-GB" sz="1000" b="1" dirty="0">
                <a:solidFill>
                  <a:srgbClr val="244061"/>
                </a:solidFill>
                <a:effectLst/>
                <a:latin typeface="Courier New"/>
                <a:ea typeface="Times New Roman"/>
                <a:cs typeface="Times New Roman"/>
              </a:rPr>
              <a:t>="</a:t>
            </a:r>
            <a:r>
              <a:rPr lang="eu-ES" sz="1000" b="1" dirty="0" err="1">
                <a:solidFill>
                  <a:srgbClr val="244061"/>
                </a:solidFill>
                <a:effectLst/>
                <a:latin typeface="Courier New"/>
                <a:ea typeface="Calibri"/>
                <a:cs typeface="Times New Roman"/>
              </a:rPr>
              <a:t>css/estiloa.css</a:t>
            </a:r>
            <a:r>
              <a:rPr lang="en-GB" sz="1000" b="1" dirty="0">
                <a:solidFill>
                  <a:srgbClr val="244061"/>
                </a:solidFill>
                <a:effectLst/>
                <a:latin typeface="Courier New"/>
                <a:ea typeface="Times New Roman"/>
                <a:cs typeface="Times New Roman"/>
              </a:rPr>
              <a:t>" /&gt;</a:t>
            </a:r>
            <a:endParaRPr lang="es-ES" sz="1100" dirty="0">
              <a:effectLst/>
              <a:ea typeface="Calibri"/>
              <a:cs typeface="Times New Roman"/>
            </a:endParaRPr>
          </a:p>
          <a:p>
            <a:pPr marL="449580">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1000" b="1" dirty="0">
                <a:solidFill>
                  <a:srgbClr val="244061"/>
                </a:solidFill>
                <a:effectLst/>
                <a:latin typeface="Courier New"/>
                <a:ea typeface="Times New Roman"/>
                <a:cs typeface="Times New Roman"/>
              </a:rPr>
              <a:t> </a:t>
            </a:r>
            <a:endParaRPr lang="es-ES" sz="1100" dirty="0">
              <a:effectLst/>
              <a:ea typeface="Calibri"/>
              <a:cs typeface="Times New Roman"/>
            </a:endParaRPr>
          </a:p>
          <a:p>
            <a:pPr marL="220980">
              <a:spcAft>
                <a:spcPts val="0"/>
              </a:spcAft>
              <a:tabLst>
                <a:tab pos="270510" algn="l"/>
              </a:tabLst>
            </a:pPr>
            <a:r>
              <a:rPr lang="eu-ES" sz="1000" b="1" dirty="0">
                <a:solidFill>
                  <a:srgbClr val="000000"/>
                </a:solidFill>
                <a:effectLst/>
                <a:latin typeface="Courier New"/>
                <a:ea typeface="Times New Roman"/>
              </a:rPr>
              <a:t>&lt;/</a:t>
            </a:r>
            <a:r>
              <a:rPr lang="eu-ES" sz="1000" b="1" dirty="0" err="1">
                <a:solidFill>
                  <a:srgbClr val="000000"/>
                </a:solidFill>
                <a:effectLst/>
                <a:latin typeface="Courier New"/>
                <a:ea typeface="Times New Roman"/>
              </a:rPr>
              <a:t>head</a:t>
            </a:r>
            <a:r>
              <a:rPr lang="eu-ES" sz="1000" b="1" dirty="0">
                <a:solidFill>
                  <a:srgbClr val="000000"/>
                </a:solidFill>
                <a:effectLst/>
                <a:latin typeface="Courier New"/>
                <a:ea typeface="Times New Roman"/>
              </a:rPr>
              <a:t>&gt;</a:t>
            </a:r>
            <a:endParaRPr lang="es-ES" sz="1200" dirty="0">
              <a:effectLst/>
              <a:latin typeface="Times New Roman"/>
              <a:ea typeface="Times New Roman"/>
            </a:endParaRPr>
          </a:p>
          <a:p>
            <a:pPr>
              <a:spcAft>
                <a:spcPts val="0"/>
              </a:spcAft>
              <a:tabLst>
                <a:tab pos="270510" algn="l"/>
              </a:tabLst>
            </a:pPr>
            <a:r>
              <a:rPr lang="en-GB"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14622701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2862322"/>
          </a:xfrm>
          <a:prstGeom prst="rect">
            <a:avLst/>
          </a:prstGeom>
          <a:noFill/>
        </p:spPr>
        <p:txBody>
          <a:bodyPr wrap="square" rtlCol="0">
            <a:spAutoFit/>
          </a:bodyPr>
          <a:lstStyle/>
          <a:p>
            <a:r>
              <a:rPr lang="es-ES" dirty="0" smtClean="0"/>
              <a:t>Dentro </a:t>
            </a:r>
            <a:r>
              <a:rPr lang="es-ES" dirty="0"/>
              <a:t>dela etiqueta &lt;head&gt; del HTML</a:t>
            </a:r>
            <a:r>
              <a:rPr lang="es-ES" dirty="0" smtClean="0"/>
              <a:t>. </a:t>
            </a:r>
            <a:r>
              <a:rPr lang="es-ES" b="1" dirty="0" smtClean="0"/>
              <a:t>AND</a:t>
            </a: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6" name="Testu-koadroa 481"/>
          <p:cNvSpPr txBox="1"/>
          <p:nvPr/>
        </p:nvSpPr>
        <p:spPr>
          <a:xfrm>
            <a:off x="827584" y="2620412"/>
            <a:ext cx="6336704" cy="2752804"/>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a:spcAft>
                <a:spcPts val="0"/>
              </a:spcAft>
              <a:tabLst>
                <a:tab pos="270510" algn="l"/>
              </a:tabLst>
            </a:pPr>
            <a:r>
              <a:rPr lang="eu-ES" sz="1200" b="1" dirty="0">
                <a:solidFill>
                  <a:srgbClr val="244061"/>
                </a:solidFill>
                <a:effectLst/>
                <a:latin typeface="Courier New"/>
                <a:ea typeface="Times New Roman"/>
              </a:rPr>
              <a:t>@media (max-width:500px){…}</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 </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@media (max-width:500</a:t>
            </a:r>
            <a:r>
              <a:rPr lang="eu-ES" sz="1200" b="1" dirty="0" err="1">
                <a:solidFill>
                  <a:srgbClr val="244061"/>
                </a:solidFill>
                <a:effectLst/>
                <a:latin typeface="Courier New"/>
                <a:ea typeface="Times New Roman"/>
              </a:rPr>
              <a:t>px</a:t>
            </a:r>
            <a:r>
              <a:rPr lang="eu-ES" sz="1200" b="1" dirty="0">
                <a:solidFill>
                  <a:srgbClr val="244061"/>
                </a:solidFill>
                <a:effectLst/>
                <a:latin typeface="Courier New"/>
                <a:ea typeface="Times New Roman"/>
              </a:rPr>
              <a:t>) and (</a:t>
            </a:r>
            <a:r>
              <a:rPr lang="eu-ES" sz="1200" b="1" dirty="0" err="1">
                <a:solidFill>
                  <a:srgbClr val="244061"/>
                </a:solidFill>
                <a:effectLst/>
                <a:latin typeface="Courier New"/>
                <a:ea typeface="Times New Roman"/>
              </a:rPr>
              <a:t>orientation</a:t>
            </a:r>
            <a:r>
              <a:rPr lang="eu-ES" sz="1200" b="1" dirty="0">
                <a:solidFill>
                  <a:srgbClr val="244061"/>
                </a:solidFill>
                <a:effectLst/>
                <a:latin typeface="Courier New"/>
                <a:ea typeface="Times New Roman"/>
              </a:rPr>
              <a:t>: </a:t>
            </a:r>
            <a:r>
              <a:rPr lang="eu-ES" sz="1200" b="1" dirty="0" err="1">
                <a:solidFill>
                  <a:srgbClr val="244061"/>
                </a:solidFill>
                <a:effectLst/>
                <a:latin typeface="Courier New"/>
                <a:ea typeface="Times New Roman"/>
              </a:rPr>
              <a:t>landscape){…</a:t>
            </a:r>
            <a:r>
              <a:rPr lang="eu-ES" sz="1200" b="1" dirty="0">
                <a:solidFill>
                  <a:srgbClr val="244061"/>
                </a:solidFill>
                <a:effectLst/>
                <a:latin typeface="Courier New"/>
                <a:ea typeface="Times New Roman"/>
              </a:rPr>
              <a:t>}</a:t>
            </a:r>
            <a:endParaRPr lang="es-ES"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@media </a:t>
            </a:r>
            <a:r>
              <a:rPr lang="eu-ES" sz="1200" b="1" dirty="0" err="1">
                <a:solidFill>
                  <a:srgbClr val="244061"/>
                </a:solidFill>
                <a:effectLst/>
                <a:latin typeface="Courier New"/>
                <a:ea typeface="Times New Roman"/>
              </a:rPr>
              <a:t>screen</a:t>
            </a:r>
            <a:r>
              <a:rPr lang="eu-ES" sz="1200" b="1" dirty="0">
                <a:solidFill>
                  <a:srgbClr val="244061"/>
                </a:solidFill>
                <a:effectLst/>
                <a:latin typeface="Courier New"/>
                <a:ea typeface="Times New Roman"/>
              </a:rPr>
              <a:t> (max-width:500</a:t>
            </a:r>
            <a:r>
              <a:rPr lang="eu-ES" sz="1200" b="1" dirty="0" err="1">
                <a:solidFill>
                  <a:srgbClr val="244061"/>
                </a:solidFill>
                <a:effectLst/>
                <a:latin typeface="Courier New"/>
                <a:ea typeface="Times New Roman"/>
              </a:rPr>
              <a:t>px</a:t>
            </a:r>
            <a:r>
              <a:rPr lang="eu-ES" sz="1200" b="1" dirty="0">
                <a:solidFill>
                  <a:srgbClr val="244061"/>
                </a:solidFill>
                <a:effectLst/>
                <a:latin typeface="Courier New"/>
                <a:ea typeface="Times New Roman"/>
              </a:rPr>
              <a:t>) and (</a:t>
            </a:r>
            <a:r>
              <a:rPr lang="eu-ES" sz="1200" b="1" dirty="0" err="1">
                <a:solidFill>
                  <a:srgbClr val="244061"/>
                </a:solidFill>
                <a:effectLst/>
                <a:latin typeface="Courier New"/>
                <a:ea typeface="Times New Roman"/>
              </a:rPr>
              <a:t>orientation</a:t>
            </a:r>
            <a:r>
              <a:rPr lang="eu-ES" sz="1200" b="1" dirty="0">
                <a:solidFill>
                  <a:srgbClr val="244061"/>
                </a:solidFill>
                <a:effectLst/>
                <a:latin typeface="Courier New"/>
                <a:ea typeface="Times New Roman"/>
              </a:rPr>
              <a:t>: </a:t>
            </a:r>
            <a:r>
              <a:rPr lang="eu-ES" sz="1200" b="1" dirty="0" err="1">
                <a:solidFill>
                  <a:srgbClr val="244061"/>
                </a:solidFill>
                <a:effectLst/>
                <a:latin typeface="Courier New"/>
                <a:ea typeface="Times New Roman"/>
              </a:rPr>
              <a:t>landscape){…</a:t>
            </a:r>
            <a:r>
              <a:rPr lang="eu-ES" sz="1200" b="1" dirty="0">
                <a:solidFill>
                  <a:srgbClr val="244061"/>
                </a:solidFill>
                <a:effectLst/>
                <a:latin typeface="Courier New"/>
                <a:ea typeface="Times New Roman"/>
              </a:rPr>
              <a:t>}</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 </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@media </a:t>
            </a:r>
            <a:r>
              <a:rPr lang="eu-ES" sz="1200" b="1" dirty="0" err="1">
                <a:solidFill>
                  <a:srgbClr val="244061"/>
                </a:solidFill>
                <a:effectLst/>
                <a:latin typeface="Courier New"/>
                <a:ea typeface="Times New Roman"/>
              </a:rPr>
              <a:t>screen</a:t>
            </a:r>
            <a:r>
              <a:rPr lang="eu-ES" sz="1200" b="1" dirty="0">
                <a:solidFill>
                  <a:srgbClr val="244061"/>
                </a:solidFill>
                <a:effectLst/>
                <a:latin typeface="Courier New"/>
                <a:ea typeface="Times New Roman"/>
              </a:rPr>
              <a:t> (max-width:500</a:t>
            </a:r>
            <a:r>
              <a:rPr lang="eu-ES" sz="1200" b="1" dirty="0" err="1">
                <a:solidFill>
                  <a:srgbClr val="244061"/>
                </a:solidFill>
                <a:effectLst/>
                <a:latin typeface="Courier New"/>
                <a:ea typeface="Times New Roman"/>
              </a:rPr>
              <a:t>px</a:t>
            </a:r>
            <a:r>
              <a:rPr lang="eu-ES" sz="1200" b="1" dirty="0">
                <a:solidFill>
                  <a:srgbClr val="244061"/>
                </a:solidFill>
                <a:effectLst/>
                <a:latin typeface="Courier New"/>
                <a:ea typeface="Times New Roman"/>
              </a:rPr>
              <a:t>) and (</a:t>
            </a:r>
            <a:r>
              <a:rPr lang="eu-ES" sz="1200" b="1" dirty="0" err="1">
                <a:solidFill>
                  <a:srgbClr val="244061"/>
                </a:solidFill>
                <a:effectLst/>
                <a:latin typeface="Courier New"/>
                <a:ea typeface="Times New Roman"/>
              </a:rPr>
              <a:t>orientation</a:t>
            </a:r>
            <a:r>
              <a:rPr lang="eu-ES" sz="1200" b="1" dirty="0">
                <a:solidFill>
                  <a:srgbClr val="244061"/>
                </a:solidFill>
                <a:effectLst/>
                <a:latin typeface="Courier New"/>
                <a:ea typeface="Times New Roman"/>
              </a:rPr>
              <a:t>: </a:t>
            </a:r>
            <a:r>
              <a:rPr lang="eu-ES" sz="1200" b="1" dirty="0" err="1">
                <a:solidFill>
                  <a:srgbClr val="244061"/>
                </a:solidFill>
                <a:effectLst/>
                <a:latin typeface="Courier New"/>
                <a:ea typeface="Times New Roman"/>
              </a:rPr>
              <a:t>landscape){…</a:t>
            </a:r>
            <a:r>
              <a:rPr lang="eu-ES" sz="1200" b="1" dirty="0">
                <a:solidFill>
                  <a:srgbClr val="244061"/>
                </a:solidFill>
                <a:effectLst/>
                <a:latin typeface="Courier New"/>
                <a:ea typeface="Times New Roman"/>
              </a:rPr>
              <a:t>}</a:t>
            </a:r>
            <a:endParaRPr lang="es-ES"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dirty="0">
              <a:effectLst/>
              <a:latin typeface="Times New Roman"/>
              <a:ea typeface="Times New Roman"/>
            </a:endParaRPr>
          </a:p>
          <a:p>
            <a:pPr>
              <a:spcAft>
                <a:spcPts val="0"/>
              </a:spcAft>
              <a:tabLst>
                <a:tab pos="270510" algn="l"/>
              </a:tabLst>
            </a:pPr>
            <a:r>
              <a:rPr lang="eu-ES" sz="1200" b="1" dirty="0">
                <a:solidFill>
                  <a:srgbClr val="244061"/>
                </a:solidFill>
                <a:effectLst/>
                <a:latin typeface="Courier New"/>
                <a:ea typeface="Times New Roman"/>
              </a:rPr>
              <a:t>@media (max-width:500</a:t>
            </a:r>
            <a:r>
              <a:rPr lang="eu-ES" sz="1200" b="1" dirty="0" err="1">
                <a:solidFill>
                  <a:srgbClr val="244061"/>
                </a:solidFill>
                <a:effectLst/>
                <a:latin typeface="Courier New"/>
                <a:ea typeface="Times New Roman"/>
              </a:rPr>
              <a:t>px</a:t>
            </a:r>
            <a:r>
              <a:rPr lang="eu-ES" sz="1200" b="1" dirty="0">
                <a:solidFill>
                  <a:srgbClr val="244061"/>
                </a:solidFill>
                <a:effectLst/>
                <a:latin typeface="Courier New"/>
                <a:ea typeface="Times New Roman"/>
              </a:rPr>
              <a:t>), </a:t>
            </a:r>
            <a:r>
              <a:rPr lang="eu-ES" sz="1200" b="1" dirty="0" err="1">
                <a:solidFill>
                  <a:srgbClr val="244061"/>
                </a:solidFill>
                <a:effectLst/>
                <a:latin typeface="Courier New"/>
                <a:ea typeface="Times New Roman"/>
              </a:rPr>
              <a:t>handheld</a:t>
            </a:r>
            <a:r>
              <a:rPr lang="eu-ES" sz="1200" b="1" dirty="0">
                <a:solidFill>
                  <a:srgbClr val="244061"/>
                </a:solidFill>
                <a:effectLst/>
                <a:latin typeface="Courier New"/>
                <a:ea typeface="Times New Roman"/>
              </a:rPr>
              <a:t> and (</a:t>
            </a:r>
            <a:r>
              <a:rPr lang="eu-ES" sz="1200" b="1" dirty="0" err="1">
                <a:solidFill>
                  <a:srgbClr val="244061"/>
                </a:solidFill>
                <a:effectLst/>
                <a:latin typeface="Courier New"/>
                <a:ea typeface="Times New Roman"/>
              </a:rPr>
              <a:t>orientation</a:t>
            </a:r>
            <a:r>
              <a:rPr lang="eu-ES" sz="1200" b="1" dirty="0">
                <a:solidFill>
                  <a:srgbClr val="244061"/>
                </a:solidFill>
                <a:effectLst/>
                <a:latin typeface="Courier New"/>
                <a:ea typeface="Times New Roman"/>
              </a:rPr>
              <a:t>: </a:t>
            </a:r>
            <a:r>
              <a:rPr lang="eu-ES" sz="1200" b="1" dirty="0" err="1">
                <a:solidFill>
                  <a:srgbClr val="244061"/>
                </a:solidFill>
                <a:effectLst/>
                <a:latin typeface="Courier New"/>
                <a:ea typeface="Times New Roman"/>
              </a:rPr>
              <a:t>landscape){…</a:t>
            </a:r>
            <a:r>
              <a:rPr lang="eu-ES" sz="1200" b="1" dirty="0">
                <a:solidFill>
                  <a:srgbClr val="244061"/>
                </a:solidFill>
                <a:effectLst/>
                <a:latin typeface="Courier New"/>
                <a:ea typeface="Times New Roman"/>
              </a:rPr>
              <a:t>}</a:t>
            </a:r>
            <a:endParaRPr lang="es-ES" dirty="0">
              <a:effectLst/>
              <a:latin typeface="Times New Roman"/>
              <a:ea typeface="Times New Roman"/>
            </a:endParaRPr>
          </a:p>
          <a:p>
            <a:pPr>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368515518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2862322"/>
          </a:xfrm>
          <a:prstGeom prst="rect">
            <a:avLst/>
          </a:prstGeom>
          <a:noFill/>
        </p:spPr>
        <p:txBody>
          <a:bodyPr wrap="square" rtlCol="0">
            <a:spAutoFit/>
          </a:bodyPr>
          <a:lstStyle/>
          <a:p>
            <a:r>
              <a:rPr lang="es-ES" dirty="0" smtClean="0"/>
              <a:t>Dentro </a:t>
            </a:r>
            <a:r>
              <a:rPr lang="es-ES" dirty="0"/>
              <a:t>dela etiqueta &lt;head&gt; del HTML</a:t>
            </a:r>
            <a:r>
              <a:rPr lang="es-ES" dirty="0" smtClean="0"/>
              <a:t>. </a:t>
            </a:r>
            <a:r>
              <a:rPr lang="es-ES" b="1" dirty="0" smtClean="0"/>
              <a:t>NOT</a:t>
            </a: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7" name="Testu-koadroa 480"/>
          <p:cNvSpPr txBox="1"/>
          <p:nvPr/>
        </p:nvSpPr>
        <p:spPr>
          <a:xfrm>
            <a:off x="827584" y="3039744"/>
            <a:ext cx="5400600" cy="749296"/>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449580" algn="just">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500" dirty="0">
                <a:solidFill>
                  <a:srgbClr val="244061"/>
                </a:solidFill>
                <a:effectLst/>
                <a:latin typeface="Courier New"/>
                <a:ea typeface="Times New Roman"/>
                <a:cs typeface="Times New Roman"/>
              </a:rPr>
              <a:t> </a:t>
            </a:r>
            <a:endParaRPr lang="es-ES" sz="1100" dirty="0">
              <a:effectLst/>
              <a:ea typeface="Calibri"/>
              <a:cs typeface="Times New Roman"/>
            </a:endParaRPr>
          </a:p>
          <a:p>
            <a:pPr marL="449580" algn="just">
              <a:spcAft>
                <a:spcPts val="0"/>
              </a:spcAft>
              <a:tabLst>
                <a:tab pos="270510" algn="l"/>
              </a:tabLst>
            </a:pPr>
            <a:r>
              <a:rPr lang="eu-ES" sz="1600" b="1" dirty="0">
                <a:solidFill>
                  <a:srgbClr val="244061"/>
                </a:solidFill>
                <a:effectLst/>
                <a:latin typeface="Courier New"/>
                <a:ea typeface="Times New Roman"/>
              </a:rPr>
              <a:t>@media </a:t>
            </a:r>
            <a:r>
              <a:rPr lang="eu-ES" sz="1600" b="1" dirty="0" err="1">
                <a:solidFill>
                  <a:srgbClr val="244061"/>
                </a:solidFill>
                <a:effectLst/>
                <a:latin typeface="Courier New"/>
                <a:ea typeface="Times New Roman"/>
              </a:rPr>
              <a:t>not</a:t>
            </a:r>
            <a:r>
              <a:rPr lang="eu-ES" sz="1600" b="1" dirty="0">
                <a:solidFill>
                  <a:srgbClr val="244061"/>
                </a:solidFill>
                <a:effectLst/>
                <a:latin typeface="Courier New"/>
                <a:ea typeface="Times New Roman"/>
              </a:rPr>
              <a:t> </a:t>
            </a:r>
            <a:r>
              <a:rPr lang="eu-ES" sz="1600" b="1" dirty="0" err="1">
                <a:solidFill>
                  <a:srgbClr val="244061"/>
                </a:solidFill>
                <a:effectLst/>
                <a:latin typeface="Courier New"/>
                <a:ea typeface="Times New Roman"/>
              </a:rPr>
              <a:t>all</a:t>
            </a:r>
            <a:r>
              <a:rPr lang="eu-ES" sz="1600" b="1" dirty="0">
                <a:solidFill>
                  <a:srgbClr val="244061"/>
                </a:solidFill>
                <a:effectLst/>
                <a:latin typeface="Courier New"/>
                <a:ea typeface="Times New Roman"/>
              </a:rPr>
              <a:t> and (</a:t>
            </a:r>
            <a:r>
              <a:rPr lang="eu-ES" sz="1600" b="1" dirty="0" err="1">
                <a:solidFill>
                  <a:srgbClr val="244061"/>
                </a:solidFill>
                <a:effectLst/>
                <a:latin typeface="Courier New"/>
                <a:ea typeface="Times New Roman"/>
              </a:rPr>
              <a:t>monochrome</a:t>
            </a:r>
            <a:r>
              <a:rPr lang="eu-ES" sz="1600" b="1" dirty="0">
                <a:solidFill>
                  <a:srgbClr val="244061"/>
                </a:solidFill>
                <a:effectLst/>
                <a:latin typeface="Courier New"/>
                <a:ea typeface="Times New Roman"/>
              </a:rPr>
              <a:t>) {…}</a:t>
            </a:r>
            <a:endParaRPr lang="es-ES" sz="2400" dirty="0">
              <a:effectLst/>
              <a:latin typeface="Times New Roman"/>
              <a:ea typeface="Times New Roman"/>
            </a:endParaRPr>
          </a:p>
          <a:p>
            <a:pPr marL="449580" algn="just">
              <a:spcAft>
                <a:spcPts val="0"/>
              </a:spcAft>
              <a:tabLst>
                <a:tab pos="270510" algn="l"/>
              </a:tabLst>
            </a:pPr>
            <a:r>
              <a:rPr lang="eu-ES" sz="1200" dirty="0">
                <a:solidFill>
                  <a:srgbClr val="000000"/>
                </a:solidFill>
                <a:effectLst/>
                <a:latin typeface="Courier New"/>
                <a:ea typeface="Times New Roman"/>
              </a:rPr>
              <a:t> </a:t>
            </a:r>
            <a:endParaRPr lang="es-ES" sz="1200" dirty="0">
              <a:effectLst/>
              <a:latin typeface="Times New Roman"/>
              <a:ea typeface="Times New Roman"/>
            </a:endParaRPr>
          </a:p>
        </p:txBody>
      </p:sp>
    </p:spTree>
    <p:extLst>
      <p:ext uri="{BB962C8B-B14F-4D97-AF65-F5344CB8AC3E}">
        <p14:creationId xmlns:p14="http://schemas.microsoft.com/office/powerpoint/2010/main" val="36149314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755576" y="1628800"/>
            <a:ext cx="6912768" cy="2862322"/>
          </a:xfrm>
          <a:prstGeom prst="rect">
            <a:avLst/>
          </a:prstGeom>
          <a:noFill/>
        </p:spPr>
        <p:txBody>
          <a:bodyPr wrap="square" rtlCol="0">
            <a:spAutoFit/>
          </a:bodyPr>
          <a:lstStyle/>
          <a:p>
            <a:r>
              <a:rPr lang="es-ES" dirty="0" smtClean="0"/>
              <a:t>Dentro </a:t>
            </a:r>
            <a:r>
              <a:rPr lang="es-ES" dirty="0"/>
              <a:t>dela etiqueta &lt;head&gt; del HTML</a:t>
            </a:r>
            <a:r>
              <a:rPr lang="es-ES" dirty="0" smtClean="0"/>
              <a:t>. </a:t>
            </a:r>
            <a:r>
              <a:rPr lang="es-ES" b="1" dirty="0" smtClean="0"/>
              <a:t>ONLY</a:t>
            </a: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sp>
        <p:nvSpPr>
          <p:cNvPr id="7" name="Testu-koadroa 55"/>
          <p:cNvSpPr txBox="1"/>
          <p:nvPr/>
        </p:nvSpPr>
        <p:spPr>
          <a:xfrm>
            <a:off x="1187624" y="3059960"/>
            <a:ext cx="5544616" cy="441047"/>
          </a:xfrm>
          <a:prstGeom prst="rect">
            <a:avLst/>
          </a:prstGeom>
          <a:solidFill>
            <a:schemeClr val="accent5">
              <a:lumMod val="20000"/>
              <a:lumOff val="80000"/>
            </a:schemeClr>
          </a:solidFill>
          <a:ln w="6350">
            <a:noFill/>
          </a:ln>
          <a:effectLst>
            <a:outerShdw blurRad="50800" dist="38100" dir="2700000" algn="tl" rotWithShape="0">
              <a:prstClr val="black">
                <a:alpha val="40000"/>
              </a:prstClr>
            </a:outerShdw>
          </a:effec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449580" marR="0" algn="just">
              <a:spcBef>
                <a:spcPts val="0"/>
              </a:spcBef>
              <a:spcAft>
                <a:spcPts val="0"/>
              </a:spcAft>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GB" sz="500">
                <a:solidFill>
                  <a:srgbClr val="244061"/>
                </a:solidFill>
                <a:effectLst/>
                <a:latin typeface="Courier New"/>
                <a:ea typeface="Times New Roman"/>
                <a:cs typeface="Times New Roman"/>
              </a:rPr>
              <a:t> </a:t>
            </a:r>
            <a:endParaRPr lang="es-ES" sz="1100">
              <a:effectLst/>
              <a:ea typeface="Calibri"/>
              <a:cs typeface="Times New Roman"/>
            </a:endParaRPr>
          </a:p>
          <a:p>
            <a:pPr marL="449580" marR="0" algn="just">
              <a:spcBef>
                <a:spcPts val="0"/>
              </a:spcBef>
              <a:spcAft>
                <a:spcPts val="0"/>
              </a:spcAft>
              <a:tabLst>
                <a:tab pos="270510" algn="l"/>
              </a:tabLst>
            </a:pPr>
            <a:r>
              <a:rPr lang="eu-ES" sz="1000" b="1">
                <a:solidFill>
                  <a:srgbClr val="244061"/>
                </a:solidFill>
                <a:effectLst/>
                <a:latin typeface="Courier New"/>
                <a:ea typeface="Times New Roman"/>
              </a:rPr>
              <a:t>@media only screen and (color){…}</a:t>
            </a:r>
            <a:endParaRPr lang="es-ES" sz="1200">
              <a:effectLst/>
              <a:latin typeface="Times New Roman"/>
              <a:ea typeface="Times New Roman"/>
            </a:endParaRPr>
          </a:p>
          <a:p>
            <a:pPr marL="449580" marR="0" algn="just">
              <a:spcBef>
                <a:spcPts val="0"/>
              </a:spcBef>
              <a:spcAft>
                <a:spcPts val="0"/>
              </a:spcAft>
              <a:tabLst>
                <a:tab pos="270510" algn="l"/>
              </a:tabLst>
            </a:pPr>
            <a:r>
              <a:rPr lang="eu-ES" sz="1200">
                <a:solidFill>
                  <a:srgbClr val="000000"/>
                </a:solidFill>
                <a:effectLst/>
                <a:latin typeface="Courier New"/>
                <a:ea typeface="Times New Roman"/>
              </a:rPr>
              <a:t> </a:t>
            </a:r>
            <a:endParaRPr lang="es-ES" sz="1200">
              <a:effectLst/>
              <a:latin typeface="Times New Roman"/>
              <a:ea typeface="Times New Roman"/>
            </a:endParaRPr>
          </a:p>
        </p:txBody>
      </p:sp>
    </p:spTree>
    <p:extLst>
      <p:ext uri="{BB962C8B-B14F-4D97-AF65-F5344CB8AC3E}">
        <p14:creationId xmlns:p14="http://schemas.microsoft.com/office/powerpoint/2010/main" val="266900192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683568" y="1628800"/>
            <a:ext cx="6912768" cy="2862322"/>
          </a:xfrm>
          <a:prstGeom prst="rect">
            <a:avLst/>
          </a:prstGeom>
          <a:noFill/>
        </p:spPr>
        <p:txBody>
          <a:bodyPr wrap="square" rtlCol="0">
            <a:spAutoFit/>
          </a:bodyPr>
          <a:lstStyle/>
          <a:p>
            <a:r>
              <a:rPr lang="es-ES" dirty="0" smtClean="0"/>
              <a:t>SOPORTES</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graphicFrame>
        <p:nvGraphicFramePr>
          <p:cNvPr id="2" name="1 Tabla"/>
          <p:cNvGraphicFramePr>
            <a:graphicFrameLocks noGrp="1"/>
          </p:cNvGraphicFramePr>
          <p:nvPr>
            <p:extLst>
              <p:ext uri="{D42A27DB-BD31-4B8C-83A1-F6EECF244321}">
                <p14:modId xmlns:p14="http://schemas.microsoft.com/office/powerpoint/2010/main" val="2413759939"/>
              </p:ext>
            </p:extLst>
          </p:nvPr>
        </p:nvGraphicFramePr>
        <p:xfrm>
          <a:off x="755576" y="2276872"/>
          <a:ext cx="5832648" cy="2880319"/>
        </p:xfrm>
        <a:graphic>
          <a:graphicData uri="http://schemas.openxmlformats.org/drawingml/2006/table">
            <a:tbl>
              <a:tblPr firstRow="1" firstCol="1" bandRow="1">
                <a:tableStyleId>{5C22544A-7EE6-4342-B048-85BDC9FD1C3A}</a:tableStyleId>
              </a:tblPr>
              <a:tblGrid>
                <a:gridCol w="1572084"/>
                <a:gridCol w="4260564"/>
              </a:tblGrid>
              <a:tr h="432087">
                <a:tc>
                  <a:txBody>
                    <a:bodyPr/>
                    <a:lstStyle/>
                    <a:p>
                      <a:pPr algn="just">
                        <a:spcAft>
                          <a:spcPts val="0"/>
                        </a:spcAft>
                      </a:pPr>
                      <a:r>
                        <a:rPr lang="es-ES" sz="1200" dirty="0" smtClean="0">
                          <a:effectLst/>
                          <a:latin typeface="+mn-lt"/>
                          <a:ea typeface="+mn-ea"/>
                          <a:cs typeface="+mn-cs"/>
                        </a:rPr>
                        <a:t>Valor</a:t>
                      </a:r>
                      <a:endParaRPr lang="es-ES" sz="1100" dirty="0">
                        <a:effectLst/>
                        <a:latin typeface="Calibri"/>
                        <a:ea typeface="Calibri"/>
                        <a:cs typeface="Times New Roman"/>
                      </a:endParaRPr>
                    </a:p>
                  </a:txBody>
                  <a:tcPr marL="68580" marR="68580" marT="0" marB="0" anchor="ctr"/>
                </a:tc>
                <a:tc>
                  <a:txBody>
                    <a:bodyPr/>
                    <a:lstStyle/>
                    <a:p>
                      <a:pPr algn="just">
                        <a:spcAft>
                          <a:spcPts val="0"/>
                        </a:spcAft>
                      </a:pPr>
                      <a:r>
                        <a:rPr lang="es-ES" sz="1200" dirty="0" smtClean="0">
                          <a:effectLst/>
                        </a:rPr>
                        <a:t>¿Para</a:t>
                      </a:r>
                      <a:r>
                        <a:rPr lang="es-ES" sz="1200" baseline="0" dirty="0" smtClean="0">
                          <a:effectLst/>
                        </a:rPr>
                        <a:t> que?</a:t>
                      </a:r>
                      <a:endParaRPr lang="es-ES" sz="1100" dirty="0">
                        <a:effectLst/>
                        <a:latin typeface="Calibri"/>
                        <a:ea typeface="Calibri"/>
                        <a:cs typeface="Times New Roman"/>
                      </a:endParaRPr>
                    </a:p>
                  </a:txBody>
                  <a:tcPr marL="68580" marR="68580" marT="0" marB="0" anchor="ctr"/>
                </a:tc>
              </a:tr>
              <a:tr h="474752">
                <a:tc>
                  <a:txBody>
                    <a:bodyPr/>
                    <a:lstStyle/>
                    <a:p>
                      <a:pPr algn="l">
                        <a:spcAft>
                          <a:spcPts val="0"/>
                        </a:spcAft>
                      </a:pPr>
                      <a:r>
                        <a:rPr lang="sq-AL" sz="1100">
                          <a:effectLst/>
                        </a:rPr>
                        <a:t>all</a:t>
                      </a:r>
                      <a:endParaRPr lang="es-ES" sz="1100">
                        <a:effectLst/>
                        <a:latin typeface="Calibri"/>
                        <a:ea typeface="Calibri"/>
                        <a:cs typeface="Times New Roman"/>
                      </a:endParaRPr>
                    </a:p>
                  </a:txBody>
                  <a:tcPr marL="68580" marR="68580" marT="0" marB="0" anchor="ctr"/>
                </a:tc>
                <a:tc>
                  <a:txBody>
                    <a:bodyPr/>
                    <a:lstStyle/>
                    <a:p>
                      <a:pPr algn="l">
                        <a:spcAft>
                          <a:spcPts val="0"/>
                        </a:spcAft>
                      </a:pPr>
                      <a:r>
                        <a:rPr lang="es-ES" sz="1100" dirty="0" smtClean="0">
                          <a:effectLst/>
                        </a:rPr>
                        <a:t>Para definir todos</a:t>
                      </a:r>
                      <a:r>
                        <a:rPr lang="es-ES" sz="1100" baseline="0" dirty="0" smtClean="0">
                          <a:effectLst/>
                        </a:rPr>
                        <a:t> los dispositivos.</a:t>
                      </a:r>
                      <a:endParaRPr lang="es-ES" sz="1100" dirty="0">
                        <a:effectLst/>
                        <a:latin typeface="Calibri"/>
                        <a:ea typeface="Calibri"/>
                        <a:cs typeface="Times New Roman"/>
                      </a:endParaRPr>
                    </a:p>
                  </a:txBody>
                  <a:tcPr marL="68580" marR="68580" marT="0" marB="0" anchor="ctr"/>
                </a:tc>
              </a:tr>
              <a:tr h="614386">
                <a:tc>
                  <a:txBody>
                    <a:bodyPr/>
                    <a:lstStyle/>
                    <a:p>
                      <a:pPr algn="l">
                        <a:spcAft>
                          <a:spcPts val="0"/>
                        </a:spcAft>
                      </a:pPr>
                      <a:r>
                        <a:rPr lang="sq-AL" sz="1100">
                          <a:effectLst/>
                        </a:rPr>
                        <a:t>handheld</a:t>
                      </a:r>
                      <a:endParaRPr lang="es-ES" sz="1100">
                        <a:effectLst/>
                        <a:latin typeface="Calibri"/>
                        <a:ea typeface="Calibri"/>
                        <a:cs typeface="Times New Roman"/>
                      </a:endParaRPr>
                    </a:p>
                  </a:txBody>
                  <a:tcPr marL="68580" marR="68580" marT="0" marB="0" anchor="ctr"/>
                </a:tc>
                <a:tc>
                  <a:txBody>
                    <a:bodyPr/>
                    <a:lstStyle/>
                    <a:p>
                      <a:pPr algn="l">
                        <a:spcAft>
                          <a:spcPts val="600"/>
                        </a:spcAft>
                      </a:pPr>
                      <a:r>
                        <a:rPr lang="es-ES" sz="1100" dirty="0" err="1" smtClean="0">
                          <a:effectLst/>
                        </a:rPr>
                        <a:t>Tablets</a:t>
                      </a:r>
                      <a:r>
                        <a:rPr lang="es-ES" sz="1100" dirty="0" smtClean="0">
                          <a:effectLst/>
                        </a:rPr>
                        <a:t>,</a:t>
                      </a:r>
                      <a:r>
                        <a:rPr lang="es-ES" sz="1100" baseline="0" dirty="0" smtClean="0">
                          <a:effectLst/>
                        </a:rPr>
                        <a:t> </a:t>
                      </a:r>
                      <a:r>
                        <a:rPr lang="es-ES" sz="1100" baseline="0" dirty="0" err="1" smtClean="0">
                          <a:effectLst/>
                        </a:rPr>
                        <a:t>moviles</a:t>
                      </a:r>
                      <a:r>
                        <a:rPr lang="es-ES" sz="1100" baseline="0" dirty="0" smtClean="0">
                          <a:effectLst/>
                        </a:rPr>
                        <a:t>…</a:t>
                      </a:r>
                      <a:endParaRPr lang="es-ES" sz="1100" dirty="0">
                        <a:effectLst/>
                        <a:latin typeface="Calibri"/>
                        <a:ea typeface="Calibri"/>
                        <a:cs typeface="Times New Roman"/>
                      </a:endParaRPr>
                    </a:p>
                  </a:txBody>
                  <a:tcPr marL="68580" marR="68580" marT="0" marB="0" anchor="ctr"/>
                </a:tc>
              </a:tr>
              <a:tr h="474752">
                <a:tc>
                  <a:txBody>
                    <a:bodyPr/>
                    <a:lstStyle/>
                    <a:p>
                      <a:pPr algn="l">
                        <a:spcAft>
                          <a:spcPts val="0"/>
                        </a:spcAft>
                      </a:pPr>
                      <a:r>
                        <a:rPr lang="sq-AL" sz="1100">
                          <a:effectLst/>
                        </a:rPr>
                        <a:t>print</a:t>
                      </a:r>
                      <a:endParaRPr lang="es-ES" sz="1100">
                        <a:effectLst/>
                        <a:latin typeface="Calibri"/>
                        <a:ea typeface="Calibri"/>
                        <a:cs typeface="Times New Roman"/>
                      </a:endParaRPr>
                    </a:p>
                  </a:txBody>
                  <a:tcPr marL="68580" marR="68580" marT="0" marB="0" anchor="ctr"/>
                </a:tc>
                <a:tc>
                  <a:txBody>
                    <a:bodyPr/>
                    <a:lstStyle/>
                    <a:p>
                      <a:pPr algn="l">
                        <a:spcAft>
                          <a:spcPts val="600"/>
                        </a:spcAft>
                      </a:pPr>
                      <a:r>
                        <a:rPr lang="es-ES" sz="1100" dirty="0" smtClean="0">
                          <a:effectLst/>
                          <a:latin typeface="+mn-lt"/>
                          <a:ea typeface="+mn-ea"/>
                          <a:cs typeface="+mn-cs"/>
                        </a:rPr>
                        <a:t>Para</a:t>
                      </a:r>
                      <a:r>
                        <a:rPr lang="es-ES" sz="1100" baseline="0" dirty="0" smtClean="0">
                          <a:effectLst/>
                          <a:latin typeface="+mn-lt"/>
                          <a:ea typeface="+mn-ea"/>
                          <a:cs typeface="+mn-cs"/>
                        </a:rPr>
                        <a:t> definir impresoras.</a:t>
                      </a:r>
                      <a:endParaRPr lang="es-ES" sz="1100" dirty="0">
                        <a:effectLst/>
                        <a:latin typeface="Calibri"/>
                        <a:ea typeface="Calibri"/>
                        <a:cs typeface="Times New Roman"/>
                      </a:endParaRPr>
                    </a:p>
                  </a:txBody>
                  <a:tcPr marL="68580" marR="68580" marT="0" marB="0" anchor="ctr"/>
                </a:tc>
              </a:tr>
              <a:tr h="474752">
                <a:tc>
                  <a:txBody>
                    <a:bodyPr/>
                    <a:lstStyle/>
                    <a:p>
                      <a:pPr algn="l">
                        <a:spcAft>
                          <a:spcPts val="0"/>
                        </a:spcAft>
                      </a:pPr>
                      <a:r>
                        <a:rPr lang="sq-AL" sz="1100">
                          <a:effectLst/>
                        </a:rPr>
                        <a:t>screen</a:t>
                      </a:r>
                      <a:endParaRPr lang="es-ES" sz="1100">
                        <a:effectLst/>
                        <a:latin typeface="Calibri"/>
                        <a:ea typeface="Calibri"/>
                        <a:cs typeface="Times New Roman"/>
                      </a:endParaRPr>
                    </a:p>
                  </a:txBody>
                  <a:tcPr marL="68580" marR="68580" marT="0" marB="0" anchor="ctr"/>
                </a:tc>
                <a:tc>
                  <a:txBody>
                    <a:bodyPr/>
                    <a:lstStyle/>
                    <a:p>
                      <a:pPr algn="l">
                        <a:spcAft>
                          <a:spcPts val="600"/>
                        </a:spcAft>
                      </a:pPr>
                      <a:r>
                        <a:rPr lang="es-ES" sz="1100" dirty="0" smtClean="0">
                          <a:effectLst/>
                        </a:rPr>
                        <a:t>Para definir todos los dispositivos</a:t>
                      </a:r>
                      <a:r>
                        <a:rPr lang="es-ES" sz="1100" baseline="0" dirty="0" smtClean="0">
                          <a:effectLst/>
                        </a:rPr>
                        <a:t> con pantalla.</a:t>
                      </a:r>
                      <a:endParaRPr lang="es-ES" sz="1100" dirty="0">
                        <a:effectLst/>
                        <a:latin typeface="Calibri"/>
                        <a:ea typeface="Calibri"/>
                        <a:cs typeface="Times New Roman"/>
                      </a:endParaRPr>
                    </a:p>
                  </a:txBody>
                  <a:tcPr marL="68580" marR="68580" marT="0" marB="0" anchor="ctr"/>
                </a:tc>
              </a:tr>
              <a:tr h="409590">
                <a:tc>
                  <a:txBody>
                    <a:bodyPr/>
                    <a:lstStyle/>
                    <a:p>
                      <a:pPr algn="l">
                        <a:spcAft>
                          <a:spcPts val="0"/>
                        </a:spcAft>
                      </a:pPr>
                      <a:r>
                        <a:rPr lang="sq-AL" sz="1100">
                          <a:effectLst/>
                        </a:rPr>
                        <a:t>speech</a:t>
                      </a:r>
                      <a:endParaRPr lang="es-ES" sz="1100">
                        <a:effectLst/>
                        <a:latin typeface="Calibri"/>
                        <a:ea typeface="Calibri"/>
                        <a:cs typeface="Times New Roman"/>
                      </a:endParaRPr>
                    </a:p>
                  </a:txBody>
                  <a:tcPr marL="68580" marR="68580" marT="0" marB="0" anchor="ctr"/>
                </a:tc>
                <a:tc>
                  <a:txBody>
                    <a:bodyPr/>
                    <a:lstStyle/>
                    <a:p>
                      <a:pPr algn="l">
                        <a:spcAft>
                          <a:spcPts val="600"/>
                        </a:spcAft>
                      </a:pPr>
                      <a:r>
                        <a:rPr lang="es-ES" sz="1100" dirty="0" smtClean="0">
                          <a:effectLst/>
                        </a:rPr>
                        <a:t>Lectores de pantallas.</a:t>
                      </a:r>
                      <a:endParaRPr lang="es-ES" sz="1100" dirty="0">
                        <a:effectLst/>
                        <a:latin typeface="Calibri"/>
                        <a:ea typeface="Calibri"/>
                        <a:cs typeface="Times New Roman"/>
                      </a:endParaRPr>
                    </a:p>
                  </a:txBody>
                  <a:tcPr marL="68580" marR="68580" marT="0" marB="0" anchor="ctr"/>
                </a:tc>
              </a:tr>
            </a:tbl>
          </a:graphicData>
        </a:graphic>
      </p:graphicFrame>
    </p:spTree>
    <p:extLst>
      <p:ext uri="{BB962C8B-B14F-4D97-AF65-F5344CB8AC3E}">
        <p14:creationId xmlns:p14="http://schemas.microsoft.com/office/powerpoint/2010/main" val="266900192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539552" y="1124744"/>
            <a:ext cx="6912768" cy="2862322"/>
          </a:xfrm>
          <a:prstGeom prst="rect">
            <a:avLst/>
          </a:prstGeom>
          <a:noFill/>
        </p:spPr>
        <p:txBody>
          <a:bodyPr wrap="square" rtlCol="0">
            <a:spAutoFit/>
          </a:bodyPr>
          <a:lstStyle/>
          <a:p>
            <a:r>
              <a:rPr lang="es-ES" dirty="0" smtClean="0"/>
              <a:t>CARACTERISTICAS SOPORTES</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graphicFrame>
        <p:nvGraphicFramePr>
          <p:cNvPr id="2" name="1 Tabla"/>
          <p:cNvGraphicFramePr>
            <a:graphicFrameLocks noGrp="1"/>
          </p:cNvGraphicFramePr>
          <p:nvPr>
            <p:extLst>
              <p:ext uri="{D42A27DB-BD31-4B8C-83A1-F6EECF244321}">
                <p14:modId xmlns:p14="http://schemas.microsoft.com/office/powerpoint/2010/main" val="1195337220"/>
              </p:ext>
            </p:extLst>
          </p:nvPr>
        </p:nvGraphicFramePr>
        <p:xfrm>
          <a:off x="1187624" y="1556792"/>
          <a:ext cx="4958683" cy="4191489"/>
        </p:xfrm>
        <a:graphic>
          <a:graphicData uri="http://schemas.openxmlformats.org/drawingml/2006/table">
            <a:tbl>
              <a:tblPr firstRow="1" firstCol="1" bandRow="1">
                <a:tableStyleId>{5C22544A-7EE6-4342-B048-85BDC9FD1C3A}</a:tableStyleId>
              </a:tblPr>
              <a:tblGrid>
                <a:gridCol w="975503"/>
                <a:gridCol w="3983180"/>
              </a:tblGrid>
              <a:tr h="161049">
                <a:tc>
                  <a:txBody>
                    <a:bodyPr/>
                    <a:lstStyle/>
                    <a:p>
                      <a:pPr marL="0" marR="0" algn="ctr">
                        <a:lnSpc>
                          <a:spcPct val="115000"/>
                        </a:lnSpc>
                        <a:spcBef>
                          <a:spcPts val="0"/>
                        </a:spcBef>
                        <a:spcAft>
                          <a:spcPts val="0"/>
                        </a:spcAft>
                      </a:pPr>
                      <a:r>
                        <a:rPr lang="sq-AL" sz="900" kern="1200" dirty="0">
                          <a:effectLst/>
                        </a:rPr>
                        <a:t>Característica</a:t>
                      </a:r>
                      <a:endParaRPr lang="es-ES" sz="800" dirty="0">
                        <a:effectLst/>
                        <a:latin typeface="Calibri"/>
                        <a:ea typeface="Calibri"/>
                        <a:cs typeface="Times New Roman"/>
                      </a:endParaRPr>
                    </a:p>
                  </a:txBody>
                  <a:tcPr marL="6513" marR="6513" marT="6978" marB="0" anchor="ctr"/>
                </a:tc>
                <a:tc>
                  <a:txBody>
                    <a:bodyPr/>
                    <a:lstStyle/>
                    <a:p>
                      <a:pPr marL="0" marR="0" algn="ctr">
                        <a:lnSpc>
                          <a:spcPct val="115000"/>
                        </a:lnSpc>
                        <a:spcBef>
                          <a:spcPts val="0"/>
                        </a:spcBef>
                        <a:spcAft>
                          <a:spcPts val="0"/>
                        </a:spcAft>
                      </a:pPr>
                      <a:r>
                        <a:rPr lang="sq-AL" sz="900" kern="1200" dirty="0">
                          <a:effectLst/>
                        </a:rPr>
                        <a:t>¿Para que?</a:t>
                      </a:r>
                      <a:endParaRPr lang="es-ES" sz="800" dirty="0">
                        <a:effectLst/>
                        <a:latin typeface="Calibri"/>
                        <a:ea typeface="Calibri"/>
                        <a:cs typeface="Times New Roman"/>
                      </a:endParaRPr>
                    </a:p>
                  </a:txBody>
                  <a:tcPr marL="6513" marR="6513" marT="6978" marB="0" anchor="ctr"/>
                </a:tc>
              </a:tr>
              <a:tr h="1239545">
                <a:tc>
                  <a:txBody>
                    <a:bodyPr/>
                    <a:lstStyle/>
                    <a:p>
                      <a:pPr marL="0" marR="0">
                        <a:lnSpc>
                          <a:spcPct val="115000"/>
                        </a:lnSpc>
                        <a:spcBef>
                          <a:spcPts val="0"/>
                        </a:spcBef>
                        <a:spcAft>
                          <a:spcPts val="0"/>
                        </a:spcAft>
                      </a:pPr>
                      <a:r>
                        <a:rPr lang="sq-AL" sz="900" kern="1200">
                          <a:effectLst/>
                        </a:rPr>
                        <a:t>aspect-ratio</a:t>
                      </a:r>
                      <a:endParaRPr lang="es-ES" sz="800">
                        <a:effectLst/>
                        <a:latin typeface="Calibri"/>
                        <a:ea typeface="Calibri"/>
                        <a:cs typeface="Times New Roman"/>
                      </a:endParaRPr>
                    </a:p>
                  </a:txBody>
                  <a:tcPr marL="6513" marR="6513" marT="6978" marB="0" anchor="ctr"/>
                </a:tc>
                <a:tc>
                  <a:txBody>
                    <a:bodyPr/>
                    <a:lstStyle/>
                    <a:p>
                      <a:pPr marL="0" marR="0">
                        <a:lnSpc>
                          <a:spcPct val="115000"/>
                        </a:lnSpc>
                        <a:spcBef>
                          <a:spcPts val="0"/>
                        </a:spcBef>
                        <a:spcAft>
                          <a:spcPts val="0"/>
                        </a:spcAft>
                      </a:pPr>
                      <a:r>
                        <a:rPr lang="sq-AL" sz="900" kern="1200" dirty="0">
                          <a:effectLst/>
                        </a:rPr>
                        <a:t>El ratio del ancho/alto que esta definido en viewport. Los valores deben de ser enteros.</a:t>
                      </a:r>
                      <a:endParaRPr lang="es-ES" sz="800" dirty="0">
                        <a:effectLst/>
                      </a:endParaRPr>
                    </a:p>
                    <a:p>
                      <a:pPr marL="0" marR="0">
                        <a:lnSpc>
                          <a:spcPct val="115000"/>
                        </a:lnSpc>
                        <a:spcBef>
                          <a:spcPts val="0"/>
                        </a:spcBef>
                        <a:spcAft>
                          <a:spcPts val="0"/>
                        </a:spcAft>
                      </a:pPr>
                      <a:r>
                        <a:rPr lang="sq-AL" sz="900" kern="1200" dirty="0">
                          <a:effectLst/>
                        </a:rPr>
                        <a:t>@media screen and (aspect-ratio:16/9) {…}  </a:t>
                      </a:r>
                      <a:endParaRPr lang="es-ES" sz="800" dirty="0">
                        <a:effectLst/>
                      </a:endParaRPr>
                    </a:p>
                    <a:p>
                      <a:pPr marL="0" marR="0">
                        <a:lnSpc>
                          <a:spcPct val="115000"/>
                        </a:lnSpc>
                        <a:spcBef>
                          <a:spcPts val="0"/>
                        </a:spcBef>
                        <a:spcAft>
                          <a:spcPts val="0"/>
                        </a:spcAft>
                      </a:pPr>
                      <a:r>
                        <a:rPr lang="sq-AL" sz="900" kern="1200" dirty="0">
                          <a:effectLst/>
                        </a:rPr>
                        <a:t>Esta característica puede incluir minimos y maximos valores: max-aspect-ratio, min-aspect-ratio</a:t>
                      </a:r>
                      <a:endParaRPr lang="es-ES" sz="800" dirty="0">
                        <a:effectLst/>
                        <a:latin typeface="Calibri"/>
                        <a:ea typeface="Calibri"/>
                        <a:cs typeface="Times New Roman"/>
                      </a:endParaRPr>
                    </a:p>
                  </a:txBody>
                  <a:tcPr marL="6513" marR="6513" marT="6978" marB="0" anchor="ctr"/>
                </a:tc>
              </a:tr>
              <a:tr h="1239545">
                <a:tc>
                  <a:txBody>
                    <a:bodyPr/>
                    <a:lstStyle/>
                    <a:p>
                      <a:pPr marL="0" marR="0">
                        <a:lnSpc>
                          <a:spcPct val="115000"/>
                        </a:lnSpc>
                        <a:spcBef>
                          <a:spcPts val="0"/>
                        </a:spcBef>
                        <a:spcAft>
                          <a:spcPts val="0"/>
                        </a:spcAft>
                      </a:pPr>
                      <a:r>
                        <a:rPr lang="sq-AL" sz="900" kern="1200">
                          <a:effectLst/>
                        </a:rPr>
                        <a:t>color</a:t>
                      </a:r>
                      <a:endParaRPr lang="es-ES" sz="800">
                        <a:effectLst/>
                        <a:latin typeface="Calibri"/>
                        <a:ea typeface="Calibri"/>
                        <a:cs typeface="Times New Roman"/>
                      </a:endParaRPr>
                    </a:p>
                  </a:txBody>
                  <a:tcPr marL="6513" marR="6513" marT="6978" marB="0" anchor="ctr"/>
                </a:tc>
                <a:tc>
                  <a:txBody>
                    <a:bodyPr/>
                    <a:lstStyle/>
                    <a:p>
                      <a:pPr marL="0" marR="0">
                        <a:lnSpc>
                          <a:spcPct val="115000"/>
                        </a:lnSpc>
                        <a:spcBef>
                          <a:spcPts val="0"/>
                        </a:spcBef>
                        <a:spcAft>
                          <a:spcPts val="0"/>
                        </a:spcAft>
                      </a:pPr>
                      <a:r>
                        <a:rPr lang="sq-AL" sz="900" kern="1200" dirty="0">
                          <a:effectLst/>
                        </a:rPr>
                        <a:t> </a:t>
                      </a:r>
                      <a:endParaRPr lang="es-ES" sz="800" dirty="0">
                        <a:effectLst/>
                      </a:endParaRPr>
                    </a:p>
                    <a:p>
                      <a:pPr marL="0" marR="0">
                        <a:lnSpc>
                          <a:spcPct val="115000"/>
                        </a:lnSpc>
                        <a:spcBef>
                          <a:spcPts val="0"/>
                        </a:spcBef>
                        <a:spcAft>
                          <a:spcPts val="0"/>
                        </a:spcAft>
                      </a:pPr>
                      <a:r>
                        <a:rPr lang="sq-AL" sz="900" kern="1200" dirty="0">
                          <a:effectLst/>
                        </a:rPr>
                        <a:t>Se utiliza para definir que un dispositivo para acepta colores. </a:t>
                      </a:r>
                      <a:endParaRPr lang="es-ES" sz="800" dirty="0">
                        <a:effectLst/>
                      </a:endParaRPr>
                    </a:p>
                    <a:p>
                      <a:pPr marL="0" marR="0">
                        <a:lnSpc>
                          <a:spcPct val="115000"/>
                        </a:lnSpc>
                        <a:spcBef>
                          <a:spcPts val="0"/>
                        </a:spcBef>
                        <a:spcAft>
                          <a:spcPts val="0"/>
                        </a:spcAft>
                      </a:pPr>
                      <a:r>
                        <a:rPr lang="sq-AL" sz="900" kern="1200" dirty="0">
                          <a:effectLst/>
                        </a:rPr>
                        <a:t> </a:t>
                      </a:r>
                      <a:endParaRPr lang="es-ES" sz="800" dirty="0">
                        <a:effectLst/>
                      </a:endParaRPr>
                    </a:p>
                    <a:p>
                      <a:pPr marL="0" marR="0">
                        <a:lnSpc>
                          <a:spcPct val="115000"/>
                        </a:lnSpc>
                        <a:spcBef>
                          <a:spcPts val="0"/>
                        </a:spcBef>
                        <a:spcAft>
                          <a:spcPts val="0"/>
                        </a:spcAft>
                      </a:pPr>
                      <a:r>
                        <a:rPr lang="sq-AL" sz="900" kern="1200" dirty="0">
                          <a:effectLst/>
                        </a:rPr>
                        <a:t>@media screen and (color) {…}</a:t>
                      </a:r>
                      <a:endParaRPr lang="es-ES" sz="800" dirty="0">
                        <a:effectLst/>
                      </a:endParaRPr>
                    </a:p>
                    <a:p>
                      <a:pPr marL="0" marR="0">
                        <a:lnSpc>
                          <a:spcPct val="115000"/>
                        </a:lnSpc>
                        <a:spcBef>
                          <a:spcPts val="0"/>
                        </a:spcBef>
                        <a:spcAft>
                          <a:spcPts val="0"/>
                        </a:spcAft>
                      </a:pPr>
                      <a:r>
                        <a:rPr lang="sq-AL" sz="900" kern="1200" dirty="0">
                          <a:effectLst/>
                        </a:rPr>
                        <a:t> </a:t>
                      </a:r>
                      <a:endParaRPr lang="es-ES" sz="800" dirty="0">
                        <a:effectLst/>
                      </a:endParaRPr>
                    </a:p>
                    <a:p>
                      <a:pPr marL="0" marR="0">
                        <a:lnSpc>
                          <a:spcPct val="115000"/>
                        </a:lnSpc>
                        <a:spcBef>
                          <a:spcPts val="0"/>
                        </a:spcBef>
                        <a:spcAft>
                          <a:spcPts val="0"/>
                        </a:spcAft>
                      </a:pPr>
                      <a:r>
                        <a:rPr lang="sq-AL" sz="900" kern="1200" dirty="0">
                          <a:effectLst/>
                        </a:rPr>
                        <a:t>Esta característica puede incluir minimos y maximos valores:  max-color, min-color</a:t>
                      </a:r>
                      <a:endParaRPr lang="es-ES" sz="800" dirty="0">
                        <a:effectLst/>
                        <a:latin typeface="Calibri"/>
                        <a:ea typeface="Calibri"/>
                        <a:cs typeface="Times New Roman"/>
                      </a:endParaRPr>
                    </a:p>
                  </a:txBody>
                  <a:tcPr marL="6513" marR="6513" marT="6978" marB="0" anchor="ctr"/>
                </a:tc>
              </a:tr>
              <a:tr h="1547687">
                <a:tc>
                  <a:txBody>
                    <a:bodyPr/>
                    <a:lstStyle/>
                    <a:p>
                      <a:pPr marL="0" marR="0">
                        <a:lnSpc>
                          <a:spcPct val="115000"/>
                        </a:lnSpc>
                        <a:spcBef>
                          <a:spcPts val="0"/>
                        </a:spcBef>
                        <a:spcAft>
                          <a:spcPts val="0"/>
                        </a:spcAft>
                      </a:pPr>
                      <a:r>
                        <a:rPr lang="sq-AL" sz="900" kern="1200">
                          <a:effectLst/>
                        </a:rPr>
                        <a:t>color-index</a:t>
                      </a:r>
                      <a:endParaRPr lang="es-ES" sz="800">
                        <a:effectLst/>
                        <a:latin typeface="Calibri"/>
                        <a:ea typeface="Calibri"/>
                        <a:cs typeface="Times New Roman"/>
                      </a:endParaRPr>
                    </a:p>
                  </a:txBody>
                  <a:tcPr marL="6513" marR="6513" marT="6978" marB="0" anchor="ctr"/>
                </a:tc>
                <a:tc>
                  <a:txBody>
                    <a:bodyPr/>
                    <a:lstStyle/>
                    <a:p>
                      <a:pPr marL="0" marR="0">
                        <a:lnSpc>
                          <a:spcPct val="115000"/>
                        </a:lnSpc>
                        <a:spcBef>
                          <a:spcPts val="0"/>
                        </a:spcBef>
                        <a:spcAft>
                          <a:spcPts val="0"/>
                        </a:spcAft>
                      </a:pPr>
                      <a:r>
                        <a:rPr lang="sq-AL" sz="900" kern="1200" dirty="0">
                          <a:effectLst/>
                        </a:rPr>
                        <a:t>Se utiliza para definir que un dispositivo tiene la capacidad de mostrar una cierta cantidad de colores.</a:t>
                      </a:r>
                      <a:endParaRPr lang="es-ES" sz="800" dirty="0">
                        <a:effectLst/>
                      </a:endParaRPr>
                    </a:p>
                    <a:p>
                      <a:pPr marL="0" marR="0">
                        <a:lnSpc>
                          <a:spcPct val="115000"/>
                        </a:lnSpc>
                        <a:spcBef>
                          <a:spcPts val="0"/>
                        </a:spcBef>
                        <a:spcAft>
                          <a:spcPts val="0"/>
                        </a:spcAft>
                      </a:pPr>
                      <a:r>
                        <a:rPr lang="sq-AL" sz="900" kern="1200" dirty="0">
                          <a:effectLst/>
                        </a:rPr>
                        <a:t> </a:t>
                      </a:r>
                      <a:endParaRPr lang="es-ES" sz="800" dirty="0">
                        <a:effectLst/>
                      </a:endParaRPr>
                    </a:p>
                    <a:p>
                      <a:pPr marL="0" marR="0">
                        <a:lnSpc>
                          <a:spcPct val="115000"/>
                        </a:lnSpc>
                        <a:spcBef>
                          <a:spcPts val="0"/>
                        </a:spcBef>
                        <a:spcAft>
                          <a:spcPts val="0"/>
                        </a:spcAft>
                      </a:pPr>
                      <a:r>
                        <a:rPr lang="sq-AL" sz="900" kern="1200" dirty="0">
                          <a:effectLst/>
                        </a:rPr>
                        <a:t>@media screen and (color-index) {…}</a:t>
                      </a:r>
                      <a:endParaRPr lang="es-ES" sz="800" dirty="0">
                        <a:effectLst/>
                      </a:endParaRPr>
                    </a:p>
                    <a:p>
                      <a:pPr marL="0" marR="0">
                        <a:lnSpc>
                          <a:spcPct val="115000"/>
                        </a:lnSpc>
                        <a:spcBef>
                          <a:spcPts val="0"/>
                        </a:spcBef>
                        <a:spcAft>
                          <a:spcPts val="0"/>
                        </a:spcAft>
                      </a:pPr>
                      <a:r>
                        <a:rPr lang="sq-AL" sz="900" kern="1200" dirty="0">
                          <a:effectLst/>
                        </a:rPr>
                        <a:t> </a:t>
                      </a:r>
                      <a:endParaRPr lang="es-ES" sz="800" dirty="0">
                        <a:effectLst/>
                      </a:endParaRPr>
                    </a:p>
                    <a:p>
                      <a:pPr marL="0" marR="0">
                        <a:lnSpc>
                          <a:spcPct val="115000"/>
                        </a:lnSpc>
                        <a:spcBef>
                          <a:spcPts val="0"/>
                        </a:spcBef>
                        <a:spcAft>
                          <a:spcPts val="0"/>
                        </a:spcAft>
                      </a:pPr>
                      <a:r>
                        <a:rPr lang="sq-AL" sz="900" kern="1200" dirty="0">
                          <a:effectLst/>
                        </a:rPr>
                        <a:t>Esta característica puede incluir minimos y maximos valores: max-color-index, min-color-index</a:t>
                      </a:r>
                      <a:endParaRPr lang="es-ES" sz="800" dirty="0">
                        <a:effectLst/>
                        <a:latin typeface="Calibri"/>
                        <a:ea typeface="Calibri"/>
                        <a:cs typeface="Times New Roman"/>
                      </a:endParaRPr>
                    </a:p>
                  </a:txBody>
                  <a:tcPr marL="6513" marR="6513" marT="6978" marB="0" anchor="ctr"/>
                </a:tc>
              </a:tr>
            </a:tbl>
          </a:graphicData>
        </a:graphic>
      </p:graphicFrame>
    </p:spTree>
    <p:extLst>
      <p:ext uri="{BB962C8B-B14F-4D97-AF65-F5344CB8AC3E}">
        <p14:creationId xmlns:p14="http://schemas.microsoft.com/office/powerpoint/2010/main" val="1357990635"/>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539552" y="1124744"/>
            <a:ext cx="6912768" cy="2862322"/>
          </a:xfrm>
          <a:prstGeom prst="rect">
            <a:avLst/>
          </a:prstGeom>
          <a:noFill/>
        </p:spPr>
        <p:txBody>
          <a:bodyPr wrap="square" rtlCol="0">
            <a:spAutoFit/>
          </a:bodyPr>
          <a:lstStyle/>
          <a:p>
            <a:r>
              <a:rPr lang="es-ES" dirty="0" smtClean="0"/>
              <a:t>CARACTERISTICAS SOPORTES</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graphicFrame>
        <p:nvGraphicFramePr>
          <p:cNvPr id="4" name="3 Tabla"/>
          <p:cNvGraphicFramePr>
            <a:graphicFrameLocks noGrp="1"/>
          </p:cNvGraphicFramePr>
          <p:nvPr>
            <p:extLst>
              <p:ext uri="{D42A27DB-BD31-4B8C-83A1-F6EECF244321}">
                <p14:modId xmlns:p14="http://schemas.microsoft.com/office/powerpoint/2010/main" val="2364024901"/>
              </p:ext>
            </p:extLst>
          </p:nvPr>
        </p:nvGraphicFramePr>
        <p:xfrm>
          <a:off x="1259632" y="1484784"/>
          <a:ext cx="4896544" cy="4261894"/>
        </p:xfrm>
        <a:graphic>
          <a:graphicData uri="http://schemas.openxmlformats.org/drawingml/2006/table">
            <a:tbl>
              <a:tblPr firstRow="1" firstCol="1" bandRow="1">
                <a:tableStyleId>{5C22544A-7EE6-4342-B048-85BDC9FD1C3A}</a:tableStyleId>
              </a:tblPr>
              <a:tblGrid>
                <a:gridCol w="1008112"/>
                <a:gridCol w="3888432"/>
              </a:tblGrid>
              <a:tr h="149148">
                <a:tc>
                  <a:txBody>
                    <a:bodyPr/>
                    <a:lstStyle/>
                    <a:p>
                      <a:pPr marL="0" marR="0" algn="ctr">
                        <a:lnSpc>
                          <a:spcPct val="115000"/>
                        </a:lnSpc>
                        <a:spcBef>
                          <a:spcPts val="0"/>
                        </a:spcBef>
                        <a:spcAft>
                          <a:spcPts val="0"/>
                        </a:spcAft>
                      </a:pPr>
                      <a:r>
                        <a:rPr lang="sq-AL" sz="900" kern="1200" dirty="0">
                          <a:effectLst/>
                        </a:rPr>
                        <a:t>Característica</a:t>
                      </a:r>
                      <a:endParaRPr lang="es-ES" sz="900" dirty="0">
                        <a:effectLst/>
                        <a:latin typeface="Calibri"/>
                        <a:ea typeface="Calibri"/>
                        <a:cs typeface="Times New Roman"/>
                      </a:endParaRPr>
                    </a:p>
                  </a:txBody>
                  <a:tcPr marL="4513" marR="4513" marT="4835" marB="0" anchor="ctr"/>
                </a:tc>
                <a:tc>
                  <a:txBody>
                    <a:bodyPr/>
                    <a:lstStyle/>
                    <a:p>
                      <a:pPr marL="0" marR="0" algn="ctr">
                        <a:lnSpc>
                          <a:spcPct val="115000"/>
                        </a:lnSpc>
                        <a:spcBef>
                          <a:spcPts val="0"/>
                        </a:spcBef>
                        <a:spcAft>
                          <a:spcPts val="0"/>
                        </a:spcAft>
                      </a:pPr>
                      <a:r>
                        <a:rPr lang="sq-AL" sz="900" kern="1200" dirty="0">
                          <a:effectLst/>
                        </a:rPr>
                        <a:t>¿Para que?</a:t>
                      </a:r>
                      <a:endParaRPr lang="es-ES" sz="900" dirty="0">
                        <a:effectLst/>
                        <a:latin typeface="Calibri"/>
                        <a:ea typeface="Calibri"/>
                        <a:cs typeface="Times New Roman"/>
                      </a:endParaRPr>
                    </a:p>
                  </a:txBody>
                  <a:tcPr marL="4513" marR="4513" marT="4835" marB="0" anchor="ctr"/>
                </a:tc>
              </a:tr>
              <a:tr h="2503751">
                <a:tc>
                  <a:txBody>
                    <a:bodyPr/>
                    <a:lstStyle/>
                    <a:p>
                      <a:pPr marL="0" marR="0">
                        <a:lnSpc>
                          <a:spcPct val="115000"/>
                        </a:lnSpc>
                        <a:spcBef>
                          <a:spcPts val="0"/>
                        </a:spcBef>
                        <a:spcAft>
                          <a:spcPts val="0"/>
                        </a:spcAft>
                      </a:pPr>
                      <a:r>
                        <a:rPr lang="sq-AL" sz="900" kern="1200" dirty="0">
                          <a:effectLst/>
                        </a:rPr>
                        <a:t>device-aspect-ratio</a:t>
                      </a:r>
                      <a:endParaRPr lang="es-ES" sz="900" dirty="0">
                        <a:effectLst/>
                        <a:latin typeface="Calibri"/>
                        <a:ea typeface="Calibri"/>
                        <a:cs typeface="Times New Roman"/>
                      </a:endParaRPr>
                    </a:p>
                  </a:txBody>
                  <a:tcPr marL="4513" marR="4513" marT="4835" marB="0" anchor="ctr"/>
                </a:tc>
                <a:tc>
                  <a:txBody>
                    <a:bodyPr/>
                    <a:lstStyle/>
                    <a:p>
                      <a:pPr marL="0" marR="0">
                        <a:lnSpc>
                          <a:spcPct val="115000"/>
                        </a:lnSpc>
                        <a:spcBef>
                          <a:spcPts val="0"/>
                        </a:spcBef>
                        <a:spcAft>
                          <a:spcPts val="0"/>
                        </a:spcAft>
                      </a:pPr>
                      <a:r>
                        <a:rPr lang="sq-AL" sz="900" kern="1200" dirty="0">
                          <a:effectLst/>
                        </a:rPr>
                        <a:t> </a:t>
                      </a:r>
                      <a:endParaRPr lang="es-ES" sz="900" dirty="0">
                        <a:effectLst/>
                      </a:endParaRPr>
                    </a:p>
                    <a:p>
                      <a:pPr marL="0" marR="0">
                        <a:lnSpc>
                          <a:spcPct val="115000"/>
                        </a:lnSpc>
                        <a:spcBef>
                          <a:spcPts val="0"/>
                        </a:spcBef>
                        <a:spcAft>
                          <a:spcPts val="0"/>
                        </a:spcAft>
                      </a:pPr>
                      <a:r>
                        <a:rPr lang="sq-AL" sz="900" kern="1200" dirty="0">
                          <a:effectLst/>
                        </a:rPr>
                        <a:t>La relación entre el ancho y la altura de un dispositivo. Por ejemplo, un dispositivo es 1280 píxeles horizontal y 720 píxeles vertical: la relación de este tamaño (16/9).</a:t>
                      </a:r>
                      <a:endParaRPr lang="es-ES" sz="900" dirty="0">
                        <a:effectLst/>
                      </a:endParaRPr>
                    </a:p>
                    <a:p>
                      <a:pPr marL="0" marR="0">
                        <a:lnSpc>
                          <a:spcPct val="115000"/>
                        </a:lnSpc>
                        <a:spcBef>
                          <a:spcPts val="0"/>
                        </a:spcBef>
                        <a:spcAft>
                          <a:spcPts val="0"/>
                        </a:spcAft>
                      </a:pPr>
                      <a:r>
                        <a:rPr lang="sq-AL" sz="900" kern="1200" dirty="0">
                          <a:effectLst/>
                        </a:rPr>
                        <a:t> </a:t>
                      </a:r>
                      <a:endParaRPr lang="es-ES" sz="900" dirty="0">
                        <a:effectLst/>
                      </a:endParaRPr>
                    </a:p>
                    <a:p>
                      <a:pPr marL="0" marR="0">
                        <a:lnSpc>
                          <a:spcPct val="115000"/>
                        </a:lnSpc>
                        <a:spcBef>
                          <a:spcPts val="0"/>
                        </a:spcBef>
                        <a:spcAft>
                          <a:spcPts val="0"/>
                        </a:spcAft>
                      </a:pPr>
                      <a:r>
                        <a:rPr lang="sq-AL" sz="900" kern="1200" dirty="0">
                          <a:effectLst/>
                        </a:rPr>
                        <a:t>@media screen and (device-aspect-ratio: 16/9) {…} </a:t>
                      </a:r>
                      <a:endParaRPr lang="es-ES" sz="900" dirty="0">
                        <a:effectLst/>
                      </a:endParaRPr>
                    </a:p>
                    <a:p>
                      <a:pPr marL="0" marR="0">
                        <a:lnSpc>
                          <a:spcPct val="115000"/>
                        </a:lnSpc>
                        <a:spcBef>
                          <a:spcPts val="0"/>
                        </a:spcBef>
                        <a:spcAft>
                          <a:spcPts val="0"/>
                        </a:spcAft>
                      </a:pPr>
                      <a:r>
                        <a:rPr lang="sq-AL" sz="900" kern="1200" dirty="0">
                          <a:effectLst/>
                        </a:rPr>
                        <a:t> </a:t>
                      </a:r>
                      <a:endParaRPr lang="es-ES" sz="900" dirty="0">
                        <a:effectLst/>
                      </a:endParaRPr>
                    </a:p>
                    <a:p>
                      <a:pPr marL="0" marR="0">
                        <a:lnSpc>
                          <a:spcPct val="115000"/>
                        </a:lnSpc>
                        <a:spcBef>
                          <a:spcPts val="0"/>
                        </a:spcBef>
                        <a:spcAft>
                          <a:spcPts val="0"/>
                        </a:spcAft>
                      </a:pPr>
                      <a:r>
                        <a:rPr lang="sq-AL" sz="900" kern="1200" dirty="0">
                          <a:effectLst/>
                        </a:rPr>
                        <a:t>Esta característica puede incluir minimos y maximos valores: max-device-aspect-ratio, min-device-aspect-ratio </a:t>
                      </a:r>
                      <a:endParaRPr lang="es-ES" sz="900" dirty="0">
                        <a:effectLst/>
                        <a:latin typeface="Calibri"/>
                        <a:ea typeface="Calibri"/>
                        <a:cs typeface="Times New Roman"/>
                      </a:endParaRPr>
                    </a:p>
                  </a:txBody>
                  <a:tcPr marL="4513" marR="4513" marT="4835" marB="0" anchor="ctr"/>
                </a:tc>
              </a:tr>
              <a:tr h="1595574">
                <a:tc>
                  <a:txBody>
                    <a:bodyPr/>
                    <a:lstStyle/>
                    <a:p>
                      <a:pPr marL="0" marR="0">
                        <a:lnSpc>
                          <a:spcPct val="115000"/>
                        </a:lnSpc>
                        <a:spcBef>
                          <a:spcPts val="0"/>
                        </a:spcBef>
                        <a:spcAft>
                          <a:spcPts val="0"/>
                        </a:spcAft>
                      </a:pPr>
                      <a:r>
                        <a:rPr lang="sq-AL" sz="900" kern="1200">
                          <a:effectLst/>
                        </a:rPr>
                        <a:t>device-height</a:t>
                      </a:r>
                      <a:endParaRPr lang="es-ES" sz="900">
                        <a:effectLst/>
                        <a:latin typeface="Calibri"/>
                        <a:ea typeface="Calibri"/>
                        <a:cs typeface="Times New Roman"/>
                      </a:endParaRPr>
                    </a:p>
                  </a:txBody>
                  <a:tcPr marL="4513" marR="4513" marT="4835" marB="0" anchor="ctr"/>
                </a:tc>
                <a:tc>
                  <a:txBody>
                    <a:bodyPr/>
                    <a:lstStyle/>
                    <a:p>
                      <a:pPr marL="0" marR="0">
                        <a:lnSpc>
                          <a:spcPct val="115000"/>
                        </a:lnSpc>
                        <a:spcBef>
                          <a:spcPts val="0"/>
                        </a:spcBef>
                        <a:spcAft>
                          <a:spcPts val="0"/>
                        </a:spcAft>
                      </a:pPr>
                      <a:r>
                        <a:rPr lang="sq-AL" sz="900" kern="1200" dirty="0">
                          <a:effectLst/>
                        </a:rPr>
                        <a:t>Se utiliza para definir qué altura debe tener un dispositivo.</a:t>
                      </a:r>
                      <a:endParaRPr lang="es-ES" sz="900" dirty="0">
                        <a:effectLst/>
                      </a:endParaRPr>
                    </a:p>
                    <a:p>
                      <a:pPr marL="0" marR="0">
                        <a:lnSpc>
                          <a:spcPct val="115000"/>
                        </a:lnSpc>
                        <a:spcBef>
                          <a:spcPts val="0"/>
                        </a:spcBef>
                        <a:spcAft>
                          <a:spcPts val="0"/>
                        </a:spcAft>
                      </a:pPr>
                      <a:r>
                        <a:rPr lang="sq-AL" sz="900" kern="1200" dirty="0">
                          <a:effectLst/>
                        </a:rPr>
                        <a:t> </a:t>
                      </a:r>
                      <a:endParaRPr lang="es-ES" sz="900" dirty="0">
                        <a:effectLst/>
                      </a:endParaRPr>
                    </a:p>
                    <a:p>
                      <a:pPr marL="0" marR="0">
                        <a:lnSpc>
                          <a:spcPct val="115000"/>
                        </a:lnSpc>
                        <a:spcBef>
                          <a:spcPts val="0"/>
                        </a:spcBef>
                        <a:spcAft>
                          <a:spcPts val="0"/>
                        </a:spcAft>
                      </a:pPr>
                      <a:r>
                        <a:rPr lang="sq-AL" sz="900" kern="1200" dirty="0">
                          <a:effectLst/>
                        </a:rPr>
                        <a:t>@media screen and (device-height: 600px) {…}</a:t>
                      </a:r>
                      <a:endParaRPr lang="es-ES" sz="900" dirty="0">
                        <a:effectLst/>
                      </a:endParaRPr>
                    </a:p>
                    <a:p>
                      <a:pPr marL="0" marR="0">
                        <a:lnSpc>
                          <a:spcPct val="115000"/>
                        </a:lnSpc>
                        <a:spcBef>
                          <a:spcPts val="0"/>
                        </a:spcBef>
                        <a:spcAft>
                          <a:spcPts val="0"/>
                        </a:spcAft>
                      </a:pPr>
                      <a:r>
                        <a:rPr lang="sq-AL" sz="900" kern="1200" dirty="0">
                          <a:effectLst/>
                        </a:rPr>
                        <a:t> </a:t>
                      </a:r>
                      <a:endParaRPr lang="es-ES" sz="900" dirty="0">
                        <a:effectLst/>
                      </a:endParaRPr>
                    </a:p>
                    <a:p>
                      <a:pPr marL="0" marR="0">
                        <a:lnSpc>
                          <a:spcPct val="115000"/>
                        </a:lnSpc>
                        <a:spcBef>
                          <a:spcPts val="0"/>
                        </a:spcBef>
                        <a:spcAft>
                          <a:spcPts val="0"/>
                        </a:spcAft>
                      </a:pPr>
                      <a:r>
                        <a:rPr lang="sq-AL" sz="900" kern="1200" dirty="0">
                          <a:effectLst/>
                        </a:rPr>
                        <a:t>Esta característica puede incluir minimos y maximos valores: max-device-height, min-device-height</a:t>
                      </a:r>
                      <a:endParaRPr lang="es-ES" sz="900" dirty="0">
                        <a:effectLst/>
                        <a:latin typeface="Calibri"/>
                        <a:ea typeface="Calibri"/>
                        <a:cs typeface="Times New Roman"/>
                      </a:endParaRPr>
                    </a:p>
                  </a:txBody>
                  <a:tcPr marL="4513" marR="4513" marT="4835" marB="0" anchor="ctr"/>
                </a:tc>
              </a:tr>
            </a:tbl>
          </a:graphicData>
        </a:graphic>
      </p:graphicFrame>
    </p:spTree>
    <p:extLst>
      <p:ext uri="{BB962C8B-B14F-4D97-AF65-F5344CB8AC3E}">
        <p14:creationId xmlns:p14="http://schemas.microsoft.com/office/powerpoint/2010/main" val="2734473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44624"/>
            <a:ext cx="8136904" cy="1224136"/>
          </a:xfrm>
          <a:prstGeom prst="rect">
            <a:avLst/>
          </a:prstGeom>
        </p:spPr>
        <p:txBody>
          <a:bodyPr vert="horz" anchor="b">
            <a:normAutofit/>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MEDIA QUERIES</a:t>
            </a:r>
            <a:endParaRPr lang="es-ES" sz="4000" dirty="0"/>
          </a:p>
        </p:txBody>
      </p:sp>
      <p:sp>
        <p:nvSpPr>
          <p:cNvPr id="5" name="4 CuadroTexto"/>
          <p:cNvSpPr txBox="1"/>
          <p:nvPr/>
        </p:nvSpPr>
        <p:spPr>
          <a:xfrm>
            <a:off x="539552" y="1124744"/>
            <a:ext cx="6912768" cy="2862322"/>
          </a:xfrm>
          <a:prstGeom prst="rect">
            <a:avLst/>
          </a:prstGeom>
          <a:noFill/>
        </p:spPr>
        <p:txBody>
          <a:bodyPr wrap="square" rtlCol="0">
            <a:spAutoFit/>
          </a:bodyPr>
          <a:lstStyle/>
          <a:p>
            <a:r>
              <a:rPr lang="es-ES" dirty="0" smtClean="0"/>
              <a:t>CARACTERISTICAS SOPORTES</a:t>
            </a:r>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smtClean="0"/>
          </a:p>
          <a:p>
            <a:pPr marL="342900" lvl="0" indent="-342900">
              <a:buFont typeface="+mj-lt"/>
              <a:buAutoNum type="arabicPeriod"/>
            </a:pPr>
            <a:endParaRPr lang="es-ES" dirty="0"/>
          </a:p>
          <a:p>
            <a:pPr marL="342900" lvl="0" indent="-342900">
              <a:buFont typeface="+mj-lt"/>
              <a:buAutoNum type="arabicPeriod"/>
            </a:pPr>
            <a:endParaRPr lang="es-ES" dirty="0" smtClean="0"/>
          </a:p>
          <a:p>
            <a:pPr marL="342900" lvl="0" indent="-342900">
              <a:buFont typeface="+mj-lt"/>
              <a:buAutoNum type="arabicPeriod"/>
            </a:pPr>
            <a:endParaRPr lang="es-ES" dirty="0"/>
          </a:p>
          <a:p>
            <a:pPr marL="342900" indent="-342900">
              <a:buFont typeface="+mj-lt"/>
              <a:buAutoNum type="arabicPeriod"/>
            </a:pPr>
            <a:endParaRPr lang="es-ES" dirty="0" smtClean="0"/>
          </a:p>
          <a:p>
            <a:endParaRPr lang="es-ES" dirty="0" smtClean="0"/>
          </a:p>
        </p:txBody>
      </p:sp>
      <p:graphicFrame>
        <p:nvGraphicFramePr>
          <p:cNvPr id="6" name="5 Tabla"/>
          <p:cNvGraphicFramePr>
            <a:graphicFrameLocks noGrp="1"/>
          </p:cNvGraphicFramePr>
          <p:nvPr>
            <p:extLst>
              <p:ext uri="{D42A27DB-BD31-4B8C-83A1-F6EECF244321}">
                <p14:modId xmlns:p14="http://schemas.microsoft.com/office/powerpoint/2010/main" val="2796068772"/>
              </p:ext>
            </p:extLst>
          </p:nvPr>
        </p:nvGraphicFramePr>
        <p:xfrm>
          <a:off x="755576" y="1628800"/>
          <a:ext cx="4896544" cy="3816423"/>
        </p:xfrm>
        <a:graphic>
          <a:graphicData uri="http://schemas.openxmlformats.org/drawingml/2006/table">
            <a:tbl>
              <a:tblPr firstRow="1" firstCol="1" bandRow="1">
                <a:tableStyleId>{5C22544A-7EE6-4342-B048-85BDC9FD1C3A}</a:tableStyleId>
              </a:tblPr>
              <a:tblGrid>
                <a:gridCol w="1430689"/>
                <a:gridCol w="3465855"/>
              </a:tblGrid>
              <a:tr h="232802">
                <a:tc>
                  <a:txBody>
                    <a:bodyPr/>
                    <a:lstStyle/>
                    <a:p>
                      <a:pPr marL="0" marR="0" algn="ctr">
                        <a:lnSpc>
                          <a:spcPct val="115000"/>
                        </a:lnSpc>
                        <a:spcBef>
                          <a:spcPts val="0"/>
                        </a:spcBef>
                        <a:spcAft>
                          <a:spcPts val="0"/>
                        </a:spcAft>
                      </a:pPr>
                      <a:r>
                        <a:rPr lang="sq-AL" sz="1200" kern="1200">
                          <a:effectLst/>
                        </a:rPr>
                        <a:t>Característica</a:t>
                      </a:r>
                      <a:endParaRPr lang="es-ES" sz="1100">
                        <a:effectLst/>
                        <a:latin typeface="Calibri"/>
                        <a:ea typeface="Calibri"/>
                        <a:cs typeface="Times New Roman"/>
                      </a:endParaRPr>
                    </a:p>
                  </a:txBody>
                  <a:tcPr marL="8890" marR="8890" marT="9525" marB="0" anchor="ctr"/>
                </a:tc>
                <a:tc>
                  <a:txBody>
                    <a:bodyPr/>
                    <a:lstStyle/>
                    <a:p>
                      <a:pPr marL="0" marR="0" algn="ctr">
                        <a:lnSpc>
                          <a:spcPct val="115000"/>
                        </a:lnSpc>
                        <a:spcBef>
                          <a:spcPts val="0"/>
                        </a:spcBef>
                        <a:spcAft>
                          <a:spcPts val="0"/>
                        </a:spcAft>
                      </a:pPr>
                      <a:r>
                        <a:rPr lang="sq-AL" sz="1200" kern="1200">
                          <a:effectLst/>
                        </a:rPr>
                        <a:t>¿Para que?</a:t>
                      </a:r>
                      <a:endParaRPr lang="es-ES" sz="1100">
                        <a:effectLst/>
                        <a:latin typeface="Calibri"/>
                        <a:ea typeface="Calibri"/>
                        <a:cs typeface="Times New Roman"/>
                      </a:endParaRPr>
                    </a:p>
                  </a:txBody>
                  <a:tcPr marL="8890" marR="8890" marT="9525" marB="0" anchor="ctr"/>
                </a:tc>
              </a:tr>
              <a:tr h="2014526">
                <a:tc>
                  <a:txBody>
                    <a:bodyPr/>
                    <a:lstStyle/>
                    <a:p>
                      <a:pPr marL="0" marR="0">
                        <a:lnSpc>
                          <a:spcPct val="115000"/>
                        </a:lnSpc>
                        <a:spcBef>
                          <a:spcPts val="0"/>
                        </a:spcBef>
                        <a:spcAft>
                          <a:spcPts val="0"/>
                        </a:spcAft>
                      </a:pPr>
                      <a:r>
                        <a:rPr lang="sq-AL" sz="1200" kern="1200">
                          <a:effectLst/>
                        </a:rPr>
                        <a:t>device-width</a:t>
                      </a:r>
                      <a:endParaRPr lang="es-ES" sz="1100">
                        <a:effectLst/>
                        <a:latin typeface="Calibri"/>
                        <a:ea typeface="Calibri"/>
                        <a:cs typeface="Times New Roman"/>
                      </a:endParaRPr>
                    </a:p>
                  </a:txBody>
                  <a:tcPr marL="8890" marR="8890" marT="9525" marB="0" anchor="ctr"/>
                </a:tc>
                <a:tc>
                  <a:txBody>
                    <a:bodyPr/>
                    <a:lstStyle/>
                    <a:p>
                      <a:pPr marL="0" marR="0">
                        <a:lnSpc>
                          <a:spcPct val="115000"/>
                        </a:lnSpc>
                        <a:spcBef>
                          <a:spcPts val="0"/>
                        </a:spcBef>
                        <a:spcAft>
                          <a:spcPts val="0"/>
                        </a:spcAft>
                      </a:pPr>
                      <a:r>
                        <a:rPr lang="sq-AL" sz="1200" kern="1200">
                          <a:effectLst/>
                        </a:rPr>
                        <a:t>Se utiliza para definir qué ancho debe tener un dispositivo. </a:t>
                      </a:r>
                      <a:endParaRPr lang="es-ES" sz="1100">
                        <a:effectLst/>
                      </a:endParaRPr>
                    </a:p>
                    <a:p>
                      <a:pPr marL="0" marR="0">
                        <a:lnSpc>
                          <a:spcPct val="115000"/>
                        </a:lnSpc>
                        <a:spcBef>
                          <a:spcPts val="0"/>
                        </a:spcBef>
                        <a:spcAft>
                          <a:spcPts val="0"/>
                        </a:spcAft>
                      </a:pPr>
                      <a:r>
                        <a:rPr lang="sq-AL" sz="1200" kern="1200">
                          <a:effectLst/>
                        </a:rPr>
                        <a:t> </a:t>
                      </a:r>
                      <a:endParaRPr lang="es-ES" sz="1100">
                        <a:effectLst/>
                      </a:endParaRPr>
                    </a:p>
                    <a:p>
                      <a:pPr marL="0" marR="0">
                        <a:lnSpc>
                          <a:spcPct val="115000"/>
                        </a:lnSpc>
                        <a:spcBef>
                          <a:spcPts val="0"/>
                        </a:spcBef>
                        <a:spcAft>
                          <a:spcPts val="0"/>
                        </a:spcAft>
                      </a:pPr>
                      <a:r>
                        <a:rPr lang="sq-AL" sz="1200" kern="1200">
                          <a:effectLst/>
                        </a:rPr>
                        <a:t>@media screen and (device-width: 800px) {…}</a:t>
                      </a:r>
                      <a:endParaRPr lang="es-ES" sz="1100">
                        <a:effectLst/>
                      </a:endParaRPr>
                    </a:p>
                    <a:p>
                      <a:pPr marL="0" marR="0">
                        <a:lnSpc>
                          <a:spcPct val="115000"/>
                        </a:lnSpc>
                        <a:spcBef>
                          <a:spcPts val="0"/>
                        </a:spcBef>
                        <a:spcAft>
                          <a:spcPts val="0"/>
                        </a:spcAft>
                      </a:pPr>
                      <a:r>
                        <a:rPr lang="sq-AL" sz="1200" kern="1200">
                          <a:effectLst/>
                        </a:rPr>
                        <a:t> </a:t>
                      </a:r>
                      <a:endParaRPr lang="es-ES" sz="1100">
                        <a:effectLst/>
                      </a:endParaRPr>
                    </a:p>
                    <a:p>
                      <a:pPr marL="0" marR="0">
                        <a:lnSpc>
                          <a:spcPct val="115000"/>
                        </a:lnSpc>
                        <a:spcBef>
                          <a:spcPts val="0"/>
                        </a:spcBef>
                        <a:spcAft>
                          <a:spcPts val="0"/>
                        </a:spcAft>
                      </a:pPr>
                      <a:r>
                        <a:rPr lang="sq-AL" sz="1200" kern="1200">
                          <a:effectLst/>
                        </a:rPr>
                        <a:t>Esta característica puede incluir minimos y maximos valores: max-device-width, min-device-width</a:t>
                      </a:r>
                      <a:endParaRPr lang="es-ES" sz="1100">
                        <a:effectLst/>
                        <a:latin typeface="Calibri"/>
                        <a:ea typeface="Calibri"/>
                        <a:cs typeface="Times New Roman"/>
                      </a:endParaRPr>
                    </a:p>
                  </a:txBody>
                  <a:tcPr marL="8890" marR="8890" marT="9525" marB="0" anchor="ctr"/>
                </a:tc>
              </a:tr>
              <a:tr h="1569095">
                <a:tc>
                  <a:txBody>
                    <a:bodyPr/>
                    <a:lstStyle/>
                    <a:p>
                      <a:pPr marL="0" marR="0">
                        <a:lnSpc>
                          <a:spcPct val="115000"/>
                        </a:lnSpc>
                        <a:spcBef>
                          <a:spcPts val="0"/>
                        </a:spcBef>
                        <a:spcAft>
                          <a:spcPts val="0"/>
                        </a:spcAft>
                      </a:pPr>
                      <a:r>
                        <a:rPr lang="sq-AL" sz="1200" kern="1200">
                          <a:effectLst/>
                        </a:rPr>
                        <a:t>orientation</a:t>
                      </a:r>
                      <a:endParaRPr lang="es-ES" sz="1100">
                        <a:effectLst/>
                        <a:latin typeface="Calibri"/>
                        <a:ea typeface="Calibri"/>
                        <a:cs typeface="Times New Roman"/>
                      </a:endParaRPr>
                    </a:p>
                  </a:txBody>
                  <a:tcPr marL="8890" marR="8890" marT="9525" marB="0" anchor="ctr"/>
                </a:tc>
                <a:tc>
                  <a:txBody>
                    <a:bodyPr/>
                    <a:lstStyle/>
                    <a:p>
                      <a:pPr marL="0" marR="0">
                        <a:lnSpc>
                          <a:spcPct val="115000"/>
                        </a:lnSpc>
                        <a:spcBef>
                          <a:spcPts val="0"/>
                        </a:spcBef>
                        <a:spcAft>
                          <a:spcPts val="0"/>
                        </a:spcAft>
                      </a:pPr>
                      <a:r>
                        <a:rPr lang="sq-AL" sz="1200" kern="1200" dirty="0">
                          <a:effectLst/>
                        </a:rPr>
                        <a:t>El ancho de un dispositivo es mayor que la altura definida con la palabra landscape; Sin embargo, si es más alto que el ancho de la altura, está definido por la palabra de portrait.</a:t>
                      </a:r>
                      <a:endParaRPr lang="es-ES" sz="1100" dirty="0">
                        <a:effectLst/>
                      </a:endParaRPr>
                    </a:p>
                    <a:p>
                      <a:pPr marL="0" marR="0">
                        <a:lnSpc>
                          <a:spcPct val="115000"/>
                        </a:lnSpc>
                        <a:spcBef>
                          <a:spcPts val="0"/>
                        </a:spcBef>
                        <a:spcAft>
                          <a:spcPts val="0"/>
                        </a:spcAft>
                      </a:pPr>
                      <a:r>
                        <a:rPr lang="sq-AL" sz="1200" kern="1200" dirty="0">
                          <a:effectLst/>
                        </a:rPr>
                        <a:t>@media all and (orientation: portrait) {…}</a:t>
                      </a:r>
                      <a:endParaRPr lang="es-ES" sz="1100" dirty="0">
                        <a:effectLst/>
                        <a:latin typeface="Calibri"/>
                        <a:ea typeface="Calibri"/>
                        <a:cs typeface="Times New Roman"/>
                      </a:endParaRPr>
                    </a:p>
                  </a:txBody>
                  <a:tcPr marL="8890" marR="8890" marT="9525" marB="0" anchor="ctr"/>
                </a:tc>
              </a:tr>
            </a:tbl>
          </a:graphicData>
        </a:graphic>
      </p:graphicFrame>
    </p:spTree>
    <p:extLst>
      <p:ext uri="{BB962C8B-B14F-4D97-AF65-F5344CB8AC3E}">
        <p14:creationId xmlns:p14="http://schemas.microsoft.com/office/powerpoint/2010/main" val="14573455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332656"/>
            <a:ext cx="8136904" cy="1224136"/>
          </a:xfrm>
          <a:prstGeom prst="rect">
            <a:avLst/>
          </a:prstGeom>
        </p:spPr>
        <p:txBody>
          <a:bodyPr vert="horz" anchor="b">
            <a:normAutofit lnSpcReduction="10000"/>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MAQUETANDO LA PÁGINA WEB</a:t>
            </a:r>
            <a:endParaRPr lang="es-ES" sz="4000" dirty="0"/>
          </a:p>
        </p:txBody>
      </p:sp>
      <p:sp>
        <p:nvSpPr>
          <p:cNvPr id="6" name="5 CuadroTexto"/>
          <p:cNvSpPr txBox="1"/>
          <p:nvPr/>
        </p:nvSpPr>
        <p:spPr>
          <a:xfrm>
            <a:off x="683568" y="1628800"/>
            <a:ext cx="6696744" cy="4031873"/>
          </a:xfrm>
          <a:prstGeom prst="rect">
            <a:avLst/>
          </a:prstGeom>
          <a:noFill/>
        </p:spPr>
        <p:txBody>
          <a:bodyPr wrap="square" rtlCol="0">
            <a:spAutoFit/>
          </a:bodyPr>
          <a:lstStyle/>
          <a:p>
            <a:pPr lvl="0"/>
            <a:r>
              <a:rPr lang="es-ES" sz="2000" dirty="0" smtClean="0"/>
              <a:t>Cuando vamos ha empezar a maquetar la web, es importante pensar en los móviles y tabletas desde el inicio del diseño.</a:t>
            </a:r>
          </a:p>
          <a:p>
            <a:pPr lvl="0"/>
            <a:endParaRPr lang="es-ES" sz="2000" dirty="0"/>
          </a:p>
          <a:p>
            <a:pPr marL="285750" lvl="0" indent="-285750">
              <a:buFont typeface="Arial" pitchFamily="34" charset="0"/>
              <a:buChar char="•"/>
            </a:pPr>
            <a:r>
              <a:rPr lang="es-ES" sz="2000" dirty="0" smtClean="0"/>
              <a:t>Tiene que adaptarse a nuestras pantallas.</a:t>
            </a:r>
          </a:p>
          <a:p>
            <a:pPr marL="285750" lvl="0" indent="-285750">
              <a:buFont typeface="Arial" pitchFamily="34" charset="0"/>
              <a:buChar char="•"/>
            </a:pPr>
            <a:r>
              <a:rPr lang="es-ES" sz="2000" dirty="0" smtClean="0"/>
              <a:t>Tiene que ser cómodo navegar y leer los textos sin hacer zoom.</a:t>
            </a:r>
          </a:p>
          <a:p>
            <a:pPr marL="285750" lvl="0" indent="-285750">
              <a:buFont typeface="Arial" pitchFamily="34" charset="0"/>
              <a:buChar char="•"/>
            </a:pPr>
            <a:r>
              <a:rPr lang="es-ES" sz="2000" dirty="0" smtClean="0"/>
              <a:t>Se eliminaran los elementos que no sean necesarios.</a:t>
            </a:r>
          </a:p>
          <a:p>
            <a:pPr marL="285750" lvl="0" indent="-285750">
              <a:buFont typeface="Arial" pitchFamily="34" charset="0"/>
              <a:buChar char="•"/>
            </a:pPr>
            <a:r>
              <a:rPr lang="es-ES" sz="2000" dirty="0"/>
              <a:t>T</a:t>
            </a:r>
            <a:r>
              <a:rPr lang="es-ES" sz="2000" dirty="0" smtClean="0"/>
              <a:t>endrá </a:t>
            </a:r>
            <a:r>
              <a:rPr lang="es-ES" sz="2000" dirty="0" smtClean="0"/>
              <a:t>un mayor efecto visual</a:t>
            </a:r>
          </a:p>
          <a:p>
            <a:pPr lvl="0"/>
            <a:endParaRPr lang="es-ES" sz="2000" dirty="0"/>
          </a:p>
          <a:p>
            <a:pPr marL="342900" indent="-342900">
              <a:buFont typeface="+mj-lt"/>
              <a:buAutoNum type="arabicPeriod"/>
            </a:pPr>
            <a:endParaRPr lang="es-ES" dirty="0" smtClean="0"/>
          </a:p>
          <a:p>
            <a:endParaRPr lang="es-ES" dirty="0" smtClean="0"/>
          </a:p>
        </p:txBody>
      </p:sp>
    </p:spTree>
    <p:extLst>
      <p:ext uri="{BB962C8B-B14F-4D97-AF65-F5344CB8AC3E}">
        <p14:creationId xmlns:p14="http://schemas.microsoft.com/office/powerpoint/2010/main" val="221212496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332656"/>
            <a:ext cx="8136904" cy="1224136"/>
          </a:xfrm>
          <a:prstGeom prst="rect">
            <a:avLst/>
          </a:prstGeom>
        </p:spPr>
        <p:txBody>
          <a:bodyPr vert="horz" anchor="b">
            <a:normAutofit lnSpcReduction="10000"/>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DIMENSIONES DE LOS DISPOSITIVOS, EJEMPLO:</a:t>
            </a:r>
            <a:endParaRPr lang="es-ES" sz="4000" dirty="0"/>
          </a:p>
        </p:txBody>
      </p:sp>
      <p:sp>
        <p:nvSpPr>
          <p:cNvPr id="6" name="5 CuadroTexto"/>
          <p:cNvSpPr txBox="1"/>
          <p:nvPr/>
        </p:nvSpPr>
        <p:spPr>
          <a:xfrm>
            <a:off x="683568" y="1628800"/>
            <a:ext cx="6696744" cy="4031873"/>
          </a:xfrm>
          <a:prstGeom prst="rect">
            <a:avLst/>
          </a:prstGeom>
          <a:noFill/>
        </p:spPr>
        <p:txBody>
          <a:bodyPr wrap="square" rtlCol="0">
            <a:spAutoFit/>
          </a:bodyPr>
          <a:lstStyle/>
          <a:p>
            <a:pPr lvl="0"/>
            <a:r>
              <a:rPr lang="es-ES" sz="2000" dirty="0" smtClean="0"/>
              <a:t>Se va a ver el diseño de la web para diferentes dimensiones de los dispositivos mediante un ejemplo:</a:t>
            </a:r>
          </a:p>
          <a:p>
            <a:pPr lvl="0"/>
            <a:endParaRPr lang="es-ES" sz="2000" dirty="0"/>
          </a:p>
          <a:p>
            <a:pPr marL="457200" lvl="0" indent="-457200">
              <a:buFont typeface="+mj-lt"/>
              <a:buAutoNum type="arabicPeriod"/>
            </a:pPr>
            <a:r>
              <a:rPr lang="es-ES" sz="2000" dirty="0" smtClean="0"/>
              <a:t>ESTRUCTURA HTML. Estructura. </a:t>
            </a:r>
          </a:p>
          <a:p>
            <a:pPr marL="457200" lvl="0" indent="-457200">
              <a:buFont typeface="+mj-lt"/>
              <a:buAutoNum type="arabicPeriod"/>
            </a:pPr>
            <a:r>
              <a:rPr lang="es-ES" sz="2000" dirty="0" smtClean="0"/>
              <a:t>DISEÑO ORDENADOR</a:t>
            </a:r>
          </a:p>
          <a:p>
            <a:pPr marL="457200" lvl="0" indent="-457200">
              <a:buFont typeface="+mj-lt"/>
              <a:buAutoNum type="arabicPeriod"/>
            </a:pPr>
            <a:r>
              <a:rPr lang="es-ES" sz="2000" dirty="0"/>
              <a:t>DISEÑO TABLET </a:t>
            </a:r>
          </a:p>
          <a:p>
            <a:pPr marL="457200" lvl="0" indent="-457200">
              <a:buFont typeface="+mj-lt"/>
              <a:buAutoNum type="arabicPeriod"/>
            </a:pPr>
            <a:r>
              <a:rPr lang="es-ES" sz="2000" dirty="0"/>
              <a:t>DISEÑO MOVIL</a:t>
            </a:r>
          </a:p>
          <a:p>
            <a:pPr lvl="0"/>
            <a:endParaRPr lang="es-ES" sz="2000" dirty="0" smtClean="0"/>
          </a:p>
          <a:p>
            <a:pPr lvl="0"/>
            <a:endParaRPr lang="es-ES" sz="2000" dirty="0" smtClean="0"/>
          </a:p>
          <a:p>
            <a:pPr lvl="0"/>
            <a:endParaRPr lang="es-ES" sz="2000" dirty="0"/>
          </a:p>
          <a:p>
            <a:pPr marL="342900" indent="-342900">
              <a:buFont typeface="+mj-lt"/>
              <a:buAutoNum type="arabicPeriod"/>
            </a:pPr>
            <a:endParaRPr lang="es-ES" dirty="0" smtClean="0"/>
          </a:p>
          <a:p>
            <a:endParaRPr lang="es-ES" dirty="0" smtClean="0"/>
          </a:p>
        </p:txBody>
      </p:sp>
    </p:spTree>
    <p:extLst>
      <p:ext uri="{BB962C8B-B14F-4D97-AF65-F5344CB8AC3E}">
        <p14:creationId xmlns:p14="http://schemas.microsoft.com/office/powerpoint/2010/main" val="4101731896"/>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332656"/>
            <a:ext cx="8136904" cy="1224136"/>
          </a:xfrm>
          <a:prstGeom prst="rect">
            <a:avLst/>
          </a:prstGeom>
        </p:spPr>
        <p:txBody>
          <a:bodyPr vert="horz" anchor="b">
            <a:normAutofit lnSpcReduction="10000"/>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DIMENSIONES DE LOS DISPOSITIVOS, EJEMPLO:</a:t>
            </a:r>
            <a:endParaRPr lang="es-ES" sz="4000" dirty="0"/>
          </a:p>
        </p:txBody>
      </p:sp>
      <p:sp>
        <p:nvSpPr>
          <p:cNvPr id="6" name="5 CuadroTexto"/>
          <p:cNvSpPr txBox="1"/>
          <p:nvPr/>
        </p:nvSpPr>
        <p:spPr>
          <a:xfrm>
            <a:off x="683568" y="1628800"/>
            <a:ext cx="6696744" cy="4339650"/>
          </a:xfrm>
          <a:prstGeom prst="rect">
            <a:avLst/>
          </a:prstGeom>
          <a:noFill/>
        </p:spPr>
        <p:txBody>
          <a:bodyPr wrap="square" rtlCol="0">
            <a:spAutoFit/>
          </a:bodyPr>
          <a:lstStyle/>
          <a:p>
            <a:pPr lvl="0"/>
            <a:endParaRPr lang="es-ES" sz="2000" dirty="0"/>
          </a:p>
          <a:p>
            <a:pPr lvl="0"/>
            <a:r>
              <a:rPr lang="es-ES" sz="2000" dirty="0" smtClean="0"/>
              <a:t>DISEÑO ORDENADOR</a:t>
            </a:r>
          </a:p>
          <a:p>
            <a:pPr lvl="0"/>
            <a:endParaRPr lang="es-ES" sz="2000" dirty="0" smtClean="0"/>
          </a:p>
          <a:p>
            <a:pPr marL="342900" lvl="0" indent="-342900">
              <a:buFont typeface="Arial" pitchFamily="34" charset="0"/>
              <a:buChar char="•"/>
            </a:pPr>
            <a:r>
              <a:rPr lang="es-ES" sz="2000" dirty="0" smtClean="0"/>
              <a:t>Min-</a:t>
            </a:r>
            <a:r>
              <a:rPr lang="es-ES" sz="2000" dirty="0" err="1" smtClean="0"/>
              <a:t>height</a:t>
            </a:r>
            <a:r>
              <a:rPr lang="es-ES" sz="2000" dirty="0" smtClean="0"/>
              <a:t>: 50px </a:t>
            </a:r>
            <a:r>
              <a:rPr lang="es-ES" sz="2000" dirty="0" err="1" smtClean="0"/>
              <a:t>header</a:t>
            </a:r>
            <a:r>
              <a:rPr lang="es-ES" sz="2000" dirty="0" smtClean="0"/>
              <a:t>, </a:t>
            </a:r>
            <a:r>
              <a:rPr lang="es-ES" sz="2000" dirty="0" err="1" smtClean="0"/>
              <a:t>nav</a:t>
            </a:r>
            <a:r>
              <a:rPr lang="es-ES" sz="2000" dirty="0" smtClean="0"/>
              <a:t> y </a:t>
            </a:r>
            <a:r>
              <a:rPr lang="es-ES" sz="2000" dirty="0" err="1" smtClean="0"/>
              <a:t>footer</a:t>
            </a:r>
            <a:endParaRPr lang="es-ES" sz="2000" dirty="0" smtClean="0"/>
          </a:p>
          <a:p>
            <a:pPr marL="342900" lvl="0" indent="-342900">
              <a:buFont typeface="Arial" pitchFamily="34" charset="0"/>
              <a:buChar char="•"/>
            </a:pPr>
            <a:r>
              <a:rPr lang="es-ES" sz="2000" dirty="0" smtClean="0"/>
              <a:t>min-</a:t>
            </a:r>
            <a:r>
              <a:rPr lang="es-ES" sz="2000" dirty="0" err="1" smtClean="0"/>
              <a:t>width</a:t>
            </a:r>
            <a:r>
              <a:rPr lang="es-ES" sz="2000" dirty="0" smtClean="0"/>
              <a:t>: 80%. Se elige en % por que los anchos de las pantallas suelen variar.</a:t>
            </a:r>
          </a:p>
          <a:p>
            <a:pPr marL="342900" lvl="0" indent="-342900">
              <a:buFont typeface="Arial" pitchFamily="34" charset="0"/>
              <a:buChar char="•"/>
            </a:pPr>
            <a:r>
              <a:rPr lang="es-ES" sz="2000" dirty="0" smtClean="0"/>
              <a:t>div=80% </a:t>
            </a:r>
          </a:p>
          <a:p>
            <a:pPr marL="342900" lvl="0" indent="-342900">
              <a:buFont typeface="Arial" pitchFamily="34" charset="0"/>
              <a:buChar char="•"/>
            </a:pPr>
            <a:r>
              <a:rPr lang="es-ES" sz="2000" dirty="0" err="1" smtClean="0"/>
              <a:t>article</a:t>
            </a:r>
            <a:r>
              <a:rPr lang="es-ES" sz="2000" dirty="0" smtClean="0"/>
              <a:t>=65%</a:t>
            </a:r>
          </a:p>
          <a:p>
            <a:pPr marL="342900" lvl="0" indent="-342900">
              <a:buFont typeface="Arial" pitchFamily="34" charset="0"/>
              <a:buChar char="•"/>
            </a:pPr>
            <a:r>
              <a:rPr lang="es-ES" sz="2000" dirty="0" err="1" smtClean="0"/>
              <a:t>aside</a:t>
            </a:r>
            <a:r>
              <a:rPr lang="es-ES" sz="2000" dirty="0" smtClean="0"/>
              <a:t>=34%</a:t>
            </a:r>
          </a:p>
          <a:p>
            <a:pPr lvl="0"/>
            <a:endParaRPr lang="es-ES" sz="2000" dirty="0"/>
          </a:p>
          <a:p>
            <a:pPr lvl="0"/>
            <a:endParaRPr lang="es-ES" sz="2000" dirty="0" smtClean="0"/>
          </a:p>
          <a:p>
            <a:pPr lvl="0"/>
            <a:endParaRPr lang="es-ES" sz="2000" dirty="0"/>
          </a:p>
          <a:p>
            <a:pPr marL="342900" indent="-342900">
              <a:buFont typeface="+mj-lt"/>
              <a:buAutoNum type="arabicPeriod"/>
            </a:pPr>
            <a:endParaRPr lang="es-ES" dirty="0" smtClean="0"/>
          </a:p>
          <a:p>
            <a:endParaRPr lang="es-ES" dirty="0" smtClean="0"/>
          </a:p>
        </p:txBody>
      </p:sp>
    </p:spTree>
    <p:extLst>
      <p:ext uri="{BB962C8B-B14F-4D97-AF65-F5344CB8AC3E}">
        <p14:creationId xmlns:p14="http://schemas.microsoft.com/office/powerpoint/2010/main" val="196051475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332656"/>
            <a:ext cx="8136904" cy="1224136"/>
          </a:xfrm>
          <a:prstGeom prst="rect">
            <a:avLst/>
          </a:prstGeom>
        </p:spPr>
        <p:txBody>
          <a:bodyPr vert="horz" anchor="b">
            <a:normAutofit lnSpcReduction="10000"/>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DIMENSIONES DE LOS DISPOSITIVOS, EJEMPLO:</a:t>
            </a:r>
            <a:endParaRPr lang="es-ES" sz="4000" dirty="0"/>
          </a:p>
        </p:txBody>
      </p:sp>
      <p:sp>
        <p:nvSpPr>
          <p:cNvPr id="6" name="5 CuadroTexto"/>
          <p:cNvSpPr txBox="1"/>
          <p:nvPr/>
        </p:nvSpPr>
        <p:spPr>
          <a:xfrm>
            <a:off x="664431" y="1628800"/>
            <a:ext cx="6696744" cy="3416320"/>
          </a:xfrm>
          <a:prstGeom prst="rect">
            <a:avLst/>
          </a:prstGeom>
          <a:noFill/>
        </p:spPr>
        <p:txBody>
          <a:bodyPr wrap="square" rtlCol="0">
            <a:spAutoFit/>
          </a:bodyPr>
          <a:lstStyle/>
          <a:p>
            <a:pPr lvl="0"/>
            <a:r>
              <a:rPr lang="es-ES" sz="2000" dirty="0" smtClean="0"/>
              <a:t>DISEÑO TABLET</a:t>
            </a:r>
          </a:p>
          <a:p>
            <a:pPr lvl="0"/>
            <a:r>
              <a:rPr lang="es-ES" sz="2000" dirty="0" smtClean="0"/>
              <a:t>	</a:t>
            </a:r>
          </a:p>
          <a:p>
            <a:pPr marL="342900" lvl="0" indent="-342900">
              <a:buFont typeface="Arial" pitchFamily="34" charset="0"/>
              <a:buChar char="•"/>
            </a:pPr>
            <a:r>
              <a:rPr lang="es-ES" sz="2000" dirty="0" smtClean="0"/>
              <a:t>ancho 501px y 700px</a:t>
            </a:r>
          </a:p>
          <a:p>
            <a:pPr marL="342900" lvl="0" indent="-342900">
              <a:buFont typeface="Arial" pitchFamily="34" charset="0"/>
              <a:buChar char="•"/>
            </a:pPr>
            <a:r>
              <a:rPr lang="sq-AL" sz="2000" dirty="0"/>
              <a:t>header, nav, footer, </a:t>
            </a:r>
            <a:r>
              <a:rPr lang="sq-AL" sz="2000" dirty="0" smtClean="0"/>
              <a:t>div#</a:t>
            </a:r>
            <a:r>
              <a:rPr lang="es-ES" sz="2000" dirty="0" smtClean="0"/>
              <a:t>contenedor</a:t>
            </a:r>
            <a:r>
              <a:rPr lang="sq-AL" sz="2000" dirty="0" smtClean="0"/>
              <a:t>, </a:t>
            </a:r>
            <a:r>
              <a:rPr lang="sq-AL" sz="2000" dirty="0"/>
              <a:t>article, section </a:t>
            </a:r>
            <a:r>
              <a:rPr lang="es-ES" sz="2000" dirty="0" smtClean="0"/>
              <a:t>y </a:t>
            </a:r>
            <a:r>
              <a:rPr lang="sq-AL" sz="2000" dirty="0" smtClean="0"/>
              <a:t>aside  </a:t>
            </a:r>
            <a:r>
              <a:rPr lang="sq-AL" sz="2000" dirty="0"/>
              <a:t>% </a:t>
            </a:r>
            <a:r>
              <a:rPr lang="sq-AL" sz="2000" dirty="0" smtClean="0"/>
              <a:t>100</a:t>
            </a:r>
            <a:r>
              <a:rPr lang="es-ES" sz="2000" dirty="0" smtClean="0"/>
              <a:t> de ancho.</a:t>
            </a:r>
          </a:p>
          <a:p>
            <a:pPr marL="342900" lvl="0" indent="-342900">
              <a:buFont typeface="Arial" pitchFamily="34" charset="0"/>
              <a:buChar char="•"/>
            </a:pPr>
            <a:r>
              <a:rPr lang="es-ES" sz="2000" dirty="0" smtClean="0"/>
              <a:t>Se va a desaparecer el </a:t>
            </a:r>
            <a:r>
              <a:rPr lang="es-ES" sz="2000" dirty="0" err="1" smtClean="0"/>
              <a:t>footer</a:t>
            </a:r>
            <a:r>
              <a:rPr lang="es-ES" sz="2000" dirty="0" smtClean="0"/>
              <a:t> y vamos a cambiar de color al </a:t>
            </a:r>
            <a:r>
              <a:rPr lang="es-ES" sz="2000" dirty="0" err="1" smtClean="0"/>
              <a:t>aside</a:t>
            </a:r>
            <a:endParaRPr lang="es-ES" sz="2000" dirty="0" smtClean="0"/>
          </a:p>
          <a:p>
            <a:pPr lvl="0"/>
            <a:endParaRPr lang="es-ES" sz="2000" dirty="0" smtClean="0"/>
          </a:p>
          <a:p>
            <a:pPr lvl="0"/>
            <a:endParaRPr lang="es-ES" sz="2000" dirty="0"/>
          </a:p>
          <a:p>
            <a:pPr marL="342900" indent="-342900">
              <a:buFont typeface="+mj-lt"/>
              <a:buAutoNum type="arabicPeriod"/>
            </a:pPr>
            <a:endParaRPr lang="es-ES" dirty="0" smtClean="0"/>
          </a:p>
          <a:p>
            <a:endParaRPr lang="es-ES" dirty="0" smtClean="0"/>
          </a:p>
        </p:txBody>
      </p:sp>
    </p:spTree>
    <p:extLst>
      <p:ext uri="{BB962C8B-B14F-4D97-AF65-F5344CB8AC3E}">
        <p14:creationId xmlns:p14="http://schemas.microsoft.com/office/powerpoint/2010/main" val="54915688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1 Título"/>
          <p:cNvSpPr txBox="1">
            <a:spLocks/>
          </p:cNvSpPr>
          <p:nvPr/>
        </p:nvSpPr>
        <p:spPr>
          <a:xfrm>
            <a:off x="395536" y="332656"/>
            <a:ext cx="8136904" cy="1224136"/>
          </a:xfrm>
          <a:prstGeom prst="rect">
            <a:avLst/>
          </a:prstGeom>
        </p:spPr>
        <p:txBody>
          <a:bodyPr vert="horz" anchor="b">
            <a:normAutofit lnSpcReduction="10000"/>
          </a:bodyPr>
          <a:lstStyle>
            <a:lvl1pPr algn="l" rtl="0" eaLnBrk="1" latinLnBrk="0" hangingPunct="1">
              <a:spcBef>
                <a:spcPct val="0"/>
              </a:spcBef>
              <a:buNone/>
              <a:defRPr kumimoji="0" sz="3600" b="1" kern="1200">
                <a:solidFill>
                  <a:schemeClr val="accent1">
                    <a:tint val="88000"/>
                    <a:satMod val="150000"/>
                  </a:schemeClr>
                </a:solidFill>
                <a:effectLst>
                  <a:outerShdw blurRad="53975" dist="22860" dir="5400000" algn="tl" rotWithShape="0">
                    <a:srgbClr val="000000">
                      <a:alpha val="55000"/>
                    </a:srgbClr>
                  </a:outerShdw>
                </a:effectLst>
                <a:latin typeface="+mj-lt"/>
                <a:ea typeface="+mj-ea"/>
                <a:cs typeface="+mj-cs"/>
              </a:defRPr>
            </a:lvl1pPr>
            <a:extLst/>
          </a:lstStyle>
          <a:p>
            <a:r>
              <a:rPr lang="es-ES" sz="4000" dirty="0" smtClean="0"/>
              <a:t>DIMENSIONES DE LOS DISPOSITIVOS, EJEMPLO:</a:t>
            </a:r>
            <a:endParaRPr lang="es-ES" sz="4000" dirty="0"/>
          </a:p>
        </p:txBody>
      </p:sp>
      <p:sp>
        <p:nvSpPr>
          <p:cNvPr id="6" name="5 CuadroTexto"/>
          <p:cNvSpPr txBox="1"/>
          <p:nvPr/>
        </p:nvSpPr>
        <p:spPr>
          <a:xfrm>
            <a:off x="664431" y="1628800"/>
            <a:ext cx="6696744" cy="3416320"/>
          </a:xfrm>
          <a:prstGeom prst="rect">
            <a:avLst/>
          </a:prstGeom>
          <a:noFill/>
        </p:spPr>
        <p:txBody>
          <a:bodyPr wrap="square" rtlCol="0">
            <a:spAutoFit/>
          </a:bodyPr>
          <a:lstStyle/>
          <a:p>
            <a:pPr lvl="0"/>
            <a:r>
              <a:rPr lang="es-ES" sz="2000" dirty="0" smtClean="0"/>
              <a:t>DISEÑO MÓVIL</a:t>
            </a:r>
          </a:p>
          <a:p>
            <a:pPr lvl="0"/>
            <a:r>
              <a:rPr lang="es-ES" sz="2000" dirty="0" smtClean="0"/>
              <a:t>	</a:t>
            </a:r>
          </a:p>
          <a:p>
            <a:pPr marL="342900" lvl="0" indent="-342900">
              <a:buFont typeface="Arial" pitchFamily="34" charset="0"/>
              <a:buChar char="•"/>
            </a:pPr>
            <a:r>
              <a:rPr lang="es-ES" sz="2000" dirty="0" smtClean="0"/>
              <a:t>ancho 501px y 700px</a:t>
            </a:r>
          </a:p>
          <a:p>
            <a:pPr marL="342900" lvl="0" indent="-342900">
              <a:buFont typeface="Arial" pitchFamily="34" charset="0"/>
              <a:buChar char="•"/>
            </a:pPr>
            <a:r>
              <a:rPr lang="sq-AL" sz="2000" dirty="0"/>
              <a:t>header, nav, footer, </a:t>
            </a:r>
            <a:r>
              <a:rPr lang="sq-AL" sz="2000" dirty="0" smtClean="0"/>
              <a:t>div#</a:t>
            </a:r>
            <a:r>
              <a:rPr lang="es-ES" sz="2000" dirty="0" smtClean="0"/>
              <a:t>contenedor</a:t>
            </a:r>
            <a:r>
              <a:rPr lang="sq-AL" sz="2000" dirty="0" smtClean="0"/>
              <a:t>, </a:t>
            </a:r>
            <a:r>
              <a:rPr lang="sq-AL" sz="2000" dirty="0"/>
              <a:t>article, section </a:t>
            </a:r>
            <a:r>
              <a:rPr lang="es-ES" sz="2000" dirty="0" smtClean="0"/>
              <a:t>y </a:t>
            </a:r>
            <a:r>
              <a:rPr lang="sq-AL" sz="2000" dirty="0" smtClean="0"/>
              <a:t>aside  </a:t>
            </a:r>
            <a:r>
              <a:rPr lang="sq-AL" sz="2000" dirty="0"/>
              <a:t>% </a:t>
            </a:r>
            <a:r>
              <a:rPr lang="sq-AL" sz="2000" dirty="0" smtClean="0"/>
              <a:t>100</a:t>
            </a:r>
            <a:r>
              <a:rPr lang="es-ES" sz="2000" dirty="0" smtClean="0"/>
              <a:t> de ancho.</a:t>
            </a:r>
          </a:p>
          <a:p>
            <a:pPr marL="342900" lvl="0" indent="-342900">
              <a:buFont typeface="Arial" pitchFamily="34" charset="0"/>
              <a:buChar char="•"/>
            </a:pPr>
            <a:r>
              <a:rPr lang="es-ES" sz="2000" dirty="0" smtClean="0"/>
              <a:t>Se va a desaparecer el </a:t>
            </a:r>
            <a:r>
              <a:rPr lang="es-ES" sz="2000" dirty="0" err="1" smtClean="0"/>
              <a:t>footer</a:t>
            </a:r>
            <a:r>
              <a:rPr lang="es-ES" sz="2000" dirty="0" smtClean="0"/>
              <a:t> y vamos a cambiar de color al </a:t>
            </a:r>
            <a:r>
              <a:rPr lang="es-ES" sz="2000" dirty="0" err="1" smtClean="0"/>
              <a:t>aside</a:t>
            </a:r>
            <a:endParaRPr lang="es-ES" sz="2000" dirty="0" smtClean="0"/>
          </a:p>
          <a:p>
            <a:pPr lvl="0"/>
            <a:endParaRPr lang="es-ES" sz="2000" dirty="0" smtClean="0"/>
          </a:p>
          <a:p>
            <a:pPr lvl="0"/>
            <a:endParaRPr lang="es-ES" sz="2000" dirty="0"/>
          </a:p>
          <a:p>
            <a:pPr marL="342900" indent="-342900">
              <a:buFont typeface="+mj-lt"/>
              <a:buAutoNum type="arabicPeriod"/>
            </a:pPr>
            <a:endParaRPr lang="es-ES" dirty="0" smtClean="0"/>
          </a:p>
          <a:p>
            <a:endParaRPr lang="es-ES" dirty="0" smtClean="0"/>
          </a:p>
        </p:txBody>
      </p:sp>
    </p:spTree>
    <p:extLst>
      <p:ext uri="{BB962C8B-B14F-4D97-AF65-F5344CB8AC3E}">
        <p14:creationId xmlns:p14="http://schemas.microsoft.com/office/powerpoint/2010/main" val="79571840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specto">
  <a:themeElements>
    <a:clrScheme name="Aspecto">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Aspecto">
      <a:maj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Verdana"/>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Aspecto">
      <a:fillStyleLst>
        <a:solidFill>
          <a:schemeClr val="phClr"/>
        </a:solidFill>
        <a:gradFill rotWithShape="1">
          <a:gsLst>
            <a:gs pos="0">
              <a:schemeClr val="phClr">
                <a:tint val="65000"/>
                <a:satMod val="270000"/>
              </a:schemeClr>
            </a:gs>
            <a:gs pos="25000">
              <a:schemeClr val="phClr">
                <a:tint val="60000"/>
                <a:satMod val="300000"/>
              </a:schemeClr>
            </a:gs>
            <a:gs pos="100000">
              <a:schemeClr val="phClr">
                <a:tint val="29000"/>
                <a:satMod val="400000"/>
              </a:schemeClr>
            </a:gs>
          </a:gsLst>
          <a:lin ang="16200000" scaled="1"/>
        </a:gradFill>
        <a:gradFill rotWithShape="1">
          <a:gsLst>
            <a:gs pos="0">
              <a:schemeClr val="phClr">
                <a:shade val="45000"/>
                <a:satMod val="155000"/>
              </a:schemeClr>
            </a:gs>
            <a:gs pos="60000">
              <a:schemeClr val="phClr">
                <a:shade val="95000"/>
                <a:satMod val="150000"/>
              </a:schemeClr>
            </a:gs>
            <a:gs pos="100000">
              <a:schemeClr val="phClr">
                <a:tint val="87000"/>
                <a:satMod val="250000"/>
              </a:schemeClr>
            </a:gs>
          </a:gsLst>
          <a:lin ang="16200000" scaled="0"/>
        </a:gradFill>
      </a:fillStyleLst>
      <a:lnStyleLst>
        <a:ln w="9525" cap="flat" cmpd="sng" algn="ctr">
          <a:solidFill>
            <a:schemeClr val="phClr">
              <a:satMod val="150000"/>
            </a:schemeClr>
          </a:solidFill>
          <a:prstDash val="solid"/>
        </a:ln>
        <a:ln w="42500" cap="flat" cmpd="sng" algn="ctr">
          <a:solidFill>
            <a:schemeClr val="phClr"/>
          </a:solidFill>
          <a:prstDash val="solid"/>
        </a:ln>
        <a:ln w="38100" cap="flat" cmpd="sng" algn="ctr">
          <a:solidFill>
            <a:schemeClr val="phClr"/>
          </a:solidFill>
          <a:prstDash val="solid"/>
        </a:ln>
      </a:lnStyleLst>
      <a:effectStyleLst>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effectStyle>
        <a:effectStyle>
          <a:effectLst>
            <a:outerShdw blurRad="65500" dist="38100" dir="5400000" rotWithShape="0">
              <a:srgbClr val="000000">
                <a:alpha val="40000"/>
              </a:srgbClr>
            </a:outerShdw>
          </a:effectLst>
          <a:scene3d>
            <a:camera prst="orthographicFront" fov="0">
              <a:rot lat="0" lon="0" rev="0"/>
            </a:camera>
            <a:lightRig rig="contrasting" dir="t">
              <a:rot lat="0" lon="0" rev="12000000"/>
            </a:lightRig>
          </a:scene3d>
          <a:sp3d prstMaterial="powder">
            <a:bevelT h="50800"/>
          </a:sp3d>
        </a:effectStyle>
      </a:effectStyleLst>
      <a:bgFillStyleLst>
        <a:solidFill>
          <a:schemeClr val="phClr"/>
        </a:solidFill>
        <a:gradFill rotWithShape="1">
          <a:gsLst>
            <a:gs pos="0">
              <a:schemeClr val="phClr">
                <a:shade val="35000"/>
                <a:satMod val="150000"/>
              </a:schemeClr>
            </a:gs>
            <a:gs pos="45000">
              <a:schemeClr val="phClr">
                <a:shade val="68000"/>
                <a:satMod val="155000"/>
              </a:schemeClr>
            </a:gs>
            <a:gs pos="100000">
              <a:schemeClr val="phClr">
                <a:tint val="70000"/>
                <a:satMod val="175000"/>
              </a:schemeClr>
            </a:gs>
          </a:gsLst>
          <a:lin ang="16200000" scaled="0"/>
        </a:gradFill>
        <a:blipFill>
          <a:blip xmlns:r="http://schemas.openxmlformats.org/officeDocument/2006/relationships" r:embed="rId1">
            <a:duotone>
              <a:schemeClr val="phClr">
                <a:shade val="800"/>
                <a:satMod val="150000"/>
              </a:schemeClr>
              <a:schemeClr val="phClr">
                <a:tint val="80000"/>
                <a:satMod val="150000"/>
              </a:schemeClr>
            </a:duotone>
          </a:blip>
          <a:tile tx="0" ty="0" sx="75000" sy="75000" flip="none" algn="tl"/>
        </a:blipFill>
      </a:bgFillStyleLst>
    </a:fmtScheme>
  </a:themeElements>
  <a:objectDefaults/>
  <a:extraClrScheme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Aspect</Template>
  <TotalTime>3367</TotalTime>
  <Words>1797</Words>
  <Application>Microsoft Office PowerPoint</Application>
  <PresentationFormat>Presentación en pantalla (4:3)</PresentationFormat>
  <Paragraphs>382</Paragraphs>
  <Slides>24</Slides>
  <Notes>22</Notes>
  <HiddenSlides>0</HiddenSlides>
  <MMClips>0</MMClips>
  <ScaleCrop>false</ScaleCrop>
  <HeadingPairs>
    <vt:vector size="4" baseType="variant">
      <vt:variant>
        <vt:lpstr>Tema</vt:lpstr>
      </vt:variant>
      <vt:variant>
        <vt:i4>1</vt:i4>
      </vt:variant>
      <vt:variant>
        <vt:lpstr>Títulos de diapositiva</vt:lpstr>
      </vt:variant>
      <vt:variant>
        <vt:i4>24</vt:i4>
      </vt:variant>
    </vt:vector>
  </HeadingPairs>
  <TitlesOfParts>
    <vt:vector size="25" baseType="lpstr">
      <vt:lpstr>Aspecto</vt:lpstr>
      <vt:lpstr>Presentación de PowerPoint</vt:lpstr>
      <vt:lpstr>DEFINICION + FUNCIÓN </vt:lpstr>
      <vt:lpstr>DEFINICION + FUNCIÓN </vt:lpstr>
      <vt:lpstr>ALGUNOS CONSEJOS </vt:lpstr>
      <vt:lpstr>ALGUNOS CONSEJOS </vt:lpstr>
      <vt:lpstr>ALGUNOS CONSEJOS </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Usuario de Windows</dc:creator>
  <cp:lastModifiedBy>Usuario de Windows</cp:lastModifiedBy>
  <cp:revision>34</cp:revision>
  <dcterms:created xsi:type="dcterms:W3CDTF">2018-10-04T09:46:44Z</dcterms:created>
  <dcterms:modified xsi:type="dcterms:W3CDTF">2018-10-09T14:29:15Z</dcterms:modified>
</cp:coreProperties>
</file>